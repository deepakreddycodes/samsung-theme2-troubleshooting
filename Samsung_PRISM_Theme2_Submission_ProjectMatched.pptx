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1.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71"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4E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48" d="100"/>
          <a:sy n="48" d="100"/>
        </p:scale>
        <p:origin x="53" y="121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CE9A8C-3F50-49F8-A835-316C22A1110D}" type="datetimeFigureOut">
              <a:rPr lang="en-IN" smtClean="0"/>
              <a:t>30-09-2026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3343F9-2D09-4642-A3BD-5BF627A067F3}" type="slidenum">
              <a:rPr lang="en-IN" smtClean="0"/>
              <a:t>‹#›</a:t>
            </a:fld>
            <a:endParaRPr lang="en-IN"/>
          </a:p>
        </p:txBody>
      </p:sp>
    </p:spTree>
    <p:extLst>
      <p:ext uri="{BB962C8B-B14F-4D97-AF65-F5344CB8AC3E}">
        <p14:creationId xmlns:p14="http://schemas.microsoft.com/office/powerpoint/2010/main" val="569163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for the 3rd edition of the PRISM Generative AI Hackathon. Replace the SAMSUNG PRISM pill with the official PRISM logo image if you have the asset. Confirm the academic year label (2026-27) before circulating.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with the one-line problem: customers describe symptoms, not settings. Our engine converts the vague complaint into exact, verified Settings steps. Right side lists what Samsung's Theme 2 baseline requires; our design covers each item.</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common approaches and where each breaks. The key gap is hallucination: an LLM that invents a plausible-sounding step is worse than no answer. Our row is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pipeline left to right, then the second row. LLM only does language work (enrichment, structuring, question phrasing). Correctness is enforced by deterministic checks: grounding firewall, URI validation, ordering, cache fingerprints. The dashed amber box is the Next-Best-Evidence step, which is proposed and in progress, not yet claimed as implemented.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slide as the script for the live demo or the 5-minute video: type the complaint, show enrichment, show the grounded steps, click through to the Settings screen. The JSON on the right shows the response shape; values are illustrative.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Design principle: use generative components only where language understanding is needed and keep policy and correctness deterministic. No vector database is needed at 578 catalog entries; we would add one only for the production scale-out.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three numbers are the targets from the Samsung brief plus the catalog size we work with. The impact story: users fix the problem in a few taps, support sees fewer repeat contacts, and new scenarios are added by adding SIIS content rather than retraining a model.</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 upfront: NBE/EIG is our headline innovation but it is proposed and in progress. The grounding firewall and versioned cache are the parts we can already back with tests. Fill the amber cells with your measured numbers (state sample count and percentiles for latency) before submitting.</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Roadmap. The grounded baseline comes first because NBE is only credible on top of a stable, tested baseline. Production adds a vector index, database, and telemetry only where measurements justify them.</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Differentiation in one line: most teams will produce a chatbot that lists fixes; we built a system that proves each step is supported, opens the exact screen, and reports its own numbers honestly.</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CFE64-7CE6-4299-B8FE-939866A3EB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E4360C-492F-4E2E-B967-599B2BD31D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870CDB-78C3-4602-B35C-A826CBF20916}"/>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F585EF81-E96A-4C8D-A4F0-A9DF05C49C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FA2448-68BE-42AE-8001-48ECE62DC431}"/>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551206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C5E08-CE8A-45BE-8C3E-C04A49CC8A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FCCB0C-95AB-4F7A-955D-2DC18750BF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96DA85-2FDE-4136-B9F6-AF0965475E5A}"/>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299B0367-ACE7-48B9-82C8-A7BFD1F98E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09A210-6017-4F71-9E78-B2C329B4A7E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58124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E6C5-6752-4963-B842-280808B201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EA6DFC-697D-4605-86C0-8572E022BE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341469-A18C-498E-BACC-28BCBFE904BB}"/>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FAED5D3B-1983-426F-A1AE-7470C43BB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35ABB1-45F2-4FEA-BB5A-3B053892DBC7}"/>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026530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F4AE-F142-401B-A5D1-4A52FF92CA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7C9BD1-2876-4C52-83CF-1CBA9D931B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E624D8-76A7-478F-ACA3-5749DEFD0E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29A939-0957-4E96-B38D-0B2E39D4137F}"/>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6" name="Footer Placeholder 5">
            <a:extLst>
              <a:ext uri="{FF2B5EF4-FFF2-40B4-BE49-F238E27FC236}">
                <a16:creationId xmlns:a16="http://schemas.microsoft.com/office/drawing/2014/main" id="{C89D44E1-B8BA-490F-B30A-538CC4D48F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84BB79-7CA5-414E-B5B6-6A8E9AEE4A94}"/>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74354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86CE8-8BA4-4FB1-ACAA-E38F8ED7F7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570902-F321-482A-924A-FF9A87CA5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5B6F67-E437-4FE8-851B-B016F33CFE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CE7897-2D17-49F8-8762-68F8D5794F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3AE8E8-43BB-400D-8934-6D6B21D3A5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DB6608-03F3-45EF-80BD-C6E305C07128}"/>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8" name="Footer Placeholder 7">
            <a:extLst>
              <a:ext uri="{FF2B5EF4-FFF2-40B4-BE49-F238E27FC236}">
                <a16:creationId xmlns:a16="http://schemas.microsoft.com/office/drawing/2014/main" id="{E665D75D-3AD4-4D0E-A5BC-9000973FD8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06A546-DC61-467F-A112-3AC0277BB9A8}"/>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71669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8549-E392-4F05-B762-B5370E51C92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1059880-A67D-4A24-9138-E937AE75075F}"/>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4" name="Footer Placeholder 3">
            <a:extLst>
              <a:ext uri="{FF2B5EF4-FFF2-40B4-BE49-F238E27FC236}">
                <a16:creationId xmlns:a16="http://schemas.microsoft.com/office/drawing/2014/main" id="{01BF6EC7-BFAB-4137-9343-C66B7829AB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A6B929-B579-4261-8171-35357AE9A33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33729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BAFEDF-BA35-4A7C-9388-604C048D57D0}"/>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3" name="Footer Placeholder 2">
            <a:extLst>
              <a:ext uri="{FF2B5EF4-FFF2-40B4-BE49-F238E27FC236}">
                <a16:creationId xmlns:a16="http://schemas.microsoft.com/office/drawing/2014/main" id="{11C80271-5700-43CC-A9BA-B2AAB47B21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A712EA-BE6D-4AE5-B09E-215DE5B0EE9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75907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A6235-A416-4C23-BE8E-8FC1CF0EC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A2C36B-7DDF-4371-9F0A-6E5B64554F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3FA19A-E15E-47EA-B9B9-5F7FD0AA0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E84724-CA93-4332-A03F-0909AC5249AD}"/>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6" name="Footer Placeholder 5">
            <a:extLst>
              <a:ext uri="{FF2B5EF4-FFF2-40B4-BE49-F238E27FC236}">
                <a16:creationId xmlns:a16="http://schemas.microsoft.com/office/drawing/2014/main" id="{E403302F-D853-499A-BB91-3BD5366E67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4AD427-BF9D-4A47-AF08-E4983B90C65A}"/>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4041188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1B540-7747-44F5-A3A4-69F051F363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4392B5-0943-4B18-9708-C9FA86F835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7DFA04-BB4C-4DC0-9831-EB32549F5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01BDBD-01E1-44D7-AB93-513FF196A2C4}"/>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6" name="Footer Placeholder 5">
            <a:extLst>
              <a:ext uri="{FF2B5EF4-FFF2-40B4-BE49-F238E27FC236}">
                <a16:creationId xmlns:a16="http://schemas.microsoft.com/office/drawing/2014/main" id="{D87D7BDB-9CCD-44F3-A4FB-D4BAE589BE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BC8D8A-A70C-4D57-8271-DCF5EEFC33AE}"/>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12236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63EB-C66D-4D2D-9928-25D57CFDCD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91A17B-5319-4265-82A2-5D286CFAFD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972F85-7902-4426-947E-3509F7A06CB1}"/>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FD08658F-7DA3-40F3-B6FA-CF740F858E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6B0DE9-130B-4DA8-9A0C-06A295C9D82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481950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4594E2-CBC8-4A0C-A110-E3B5A301CF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FBD2EA-CB7C-4CAB-855D-57F7919104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2348B0-3CBB-41FA-A8EC-5DFC833D7ECD}"/>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1A7E08DA-D399-4DC8-89B1-C4EBC64DC9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DA6177-D647-4C5F-BA43-C02A1390F47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814687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634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E67A62-7E64-4BE9-8EDF-4904E871A0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CA73B9-1A82-4479-978C-9C873CC677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977FC6-3D78-48A7-A3DB-BFC7C0EA3E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27CDC877-1137-446E-919A-C66E313317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A258D39-C9B6-4DA9-9C05-38A0ECD4CE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5B04A4-2082-4D7E-8466-9BA22C990A78}" type="slidenum">
              <a:rPr lang="en-IN" smtClean="0"/>
              <a:t>‹#›</a:t>
            </a:fld>
            <a:endParaRPr lang="en-IN"/>
          </a:p>
        </p:txBody>
      </p:sp>
    </p:spTree>
    <p:extLst>
      <p:ext uri="{BB962C8B-B14F-4D97-AF65-F5344CB8AC3E}">
        <p14:creationId xmlns:p14="http://schemas.microsoft.com/office/powerpoint/2010/main" val="3279178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77240" y="676656"/>
            <a:ext cx="2423160" cy="347472"/>
          </a:xfrm>
          <a:prstGeom prst="roundRect">
            <a:avLst>
              <a:gd name="adj" fmla="val 50000"/>
            </a:avLst>
          </a:prstGeom>
          <a:solidFill>
            <a:srgbClr val="FFFFFF"/>
          </a:solidFill>
          <a:ln w="12700">
            <a:solidFill>
              <a:srgbClr val="D9D3F0"/>
            </a:solidFill>
            <a:prstDash val="solid"/>
          </a:ln>
        </p:spPr>
        <p:txBody>
          <a:bodyPr/>
          <a:lstStyle/>
          <a:p>
            <a:endParaRPr/>
          </a:p>
        </p:txBody>
      </p:sp>
      <p:sp>
        <p:nvSpPr>
          <p:cNvPr id="3" name="Text 1"/>
          <p:cNvSpPr txBox="1"/>
          <p:nvPr/>
        </p:nvSpPr>
        <p:spPr>
          <a:xfrm>
            <a:off x="777240" y="676656"/>
            <a:ext cx="2423160" cy="347472"/>
          </a:xfrm>
          <a:prstGeom prst="rect">
            <a:avLst/>
          </a:prstGeom>
          <a:noFill/>
          <a:ln/>
        </p:spPr>
        <p:txBody>
          <a:bodyPr wrap="square" lIns="0" tIns="0" rIns="0" bIns="0" rtlCol="0" anchor="ctr"/>
          <a:lstStyle/>
          <a:p>
            <a:pPr marL="0" indent="0" algn="ctr">
              <a:buNone/>
            </a:pPr>
            <a:r>
              <a:rPr lang="en-US" sz="1100" b="1" kern="0" spc="110" dirty="0">
                <a:solidFill>
                  <a:srgbClr val="6D28D9"/>
                </a:solidFill>
                <a:latin typeface="Arial" pitchFamily="34" charset="0"/>
                <a:ea typeface="Arial" pitchFamily="34" charset="-122"/>
                <a:cs typeface="Arial" pitchFamily="34" charset="-120"/>
              </a:rPr>
              <a:t>SAMSUNG PRISM</a:t>
            </a:r>
            <a:endParaRPr lang="en-US" sz="1100" dirty="0"/>
          </a:p>
        </p:txBody>
      </p:sp>
      <p:sp>
        <p:nvSpPr>
          <p:cNvPr id="4" name="Text 2"/>
          <p:cNvSpPr txBox="1"/>
          <p:nvPr/>
        </p:nvSpPr>
        <p:spPr>
          <a:xfrm>
            <a:off x="777240" y="1207008"/>
            <a:ext cx="6126480" cy="749808"/>
          </a:xfrm>
          <a:prstGeom prst="rect">
            <a:avLst/>
          </a:prstGeom>
          <a:noFill/>
          <a:ln/>
        </p:spPr>
        <p:txBody>
          <a:bodyPr wrap="square" lIns="0" tIns="0" rIns="0" bIns="0" rtlCol="0" anchor="ctr"/>
          <a:lstStyle/>
          <a:p>
            <a:pPr marL="0" indent="0">
              <a:buNone/>
            </a:pPr>
            <a:r>
              <a:rPr lang="en-US" sz="5000" b="1" dirty="0">
                <a:solidFill>
                  <a:srgbClr val="14142B"/>
                </a:solidFill>
                <a:latin typeface="Arial" pitchFamily="34" charset="0"/>
                <a:ea typeface="Arial" pitchFamily="34" charset="-122"/>
                <a:cs typeface="Arial" pitchFamily="34" charset="-120"/>
              </a:rPr>
              <a:t>Generative AI</a:t>
            </a:r>
            <a:endParaRPr lang="en-US" sz="5000" dirty="0"/>
          </a:p>
        </p:txBody>
      </p:sp>
      <p:sp>
        <p:nvSpPr>
          <p:cNvPr id="5" name="Text 3"/>
          <p:cNvSpPr txBox="1"/>
          <p:nvPr/>
        </p:nvSpPr>
        <p:spPr>
          <a:xfrm>
            <a:off x="777240" y="1901952"/>
            <a:ext cx="6126480" cy="749808"/>
          </a:xfrm>
          <a:prstGeom prst="rect">
            <a:avLst/>
          </a:prstGeom>
          <a:noFill/>
          <a:ln/>
        </p:spPr>
        <p:txBody>
          <a:bodyPr wrap="square" lIns="0" tIns="0" rIns="0" bIns="0" rtlCol="0" anchor="ctr"/>
          <a:lstStyle/>
          <a:p>
            <a:pPr marL="0" indent="0">
              <a:buNone/>
            </a:pPr>
            <a:r>
              <a:rPr lang="en-US" sz="5000" b="1" dirty="0">
                <a:solidFill>
                  <a:srgbClr val="6D28D9"/>
                </a:solidFill>
                <a:latin typeface="Arial" pitchFamily="34" charset="0"/>
                <a:ea typeface="Arial" pitchFamily="34" charset="-122"/>
                <a:cs typeface="Arial" pitchFamily="34" charset="-120"/>
              </a:rPr>
              <a:t>Hackathon</a:t>
            </a:r>
            <a:endParaRPr lang="en-US" sz="5000" dirty="0"/>
          </a:p>
        </p:txBody>
      </p:sp>
      <p:sp>
        <p:nvSpPr>
          <p:cNvPr id="6" name="Text 4"/>
          <p:cNvSpPr txBox="1"/>
          <p:nvPr/>
        </p:nvSpPr>
        <p:spPr>
          <a:xfrm>
            <a:off x="777240" y="2724912"/>
            <a:ext cx="6126480" cy="457200"/>
          </a:xfrm>
          <a:prstGeom prst="rect">
            <a:avLst/>
          </a:prstGeom>
          <a:noFill/>
          <a:ln/>
        </p:spPr>
        <p:txBody>
          <a:bodyPr wrap="square" lIns="0" tIns="0" rIns="0" bIns="0" rtlCol="0" anchor="ctr"/>
          <a:lstStyle/>
          <a:p>
            <a:pPr marL="0" indent="0">
              <a:buNone/>
            </a:pPr>
            <a:r>
              <a:rPr lang="en-US" sz="2500" b="1" dirty="0">
                <a:solidFill>
                  <a:srgbClr val="14142B"/>
                </a:solidFill>
                <a:latin typeface="Arial" pitchFamily="34" charset="0"/>
                <a:ea typeface="Arial" pitchFamily="34" charset="-122"/>
                <a:cs typeface="Arial" pitchFamily="34" charset="-120"/>
              </a:rPr>
              <a:t>3rd Edition</a:t>
            </a:r>
            <a:r>
              <a:rPr lang="en-US" sz="2000" dirty="0">
                <a:solidFill>
                  <a:srgbClr val="63637E"/>
                </a:solidFill>
                <a:latin typeface="Calibri" pitchFamily="34" charset="0"/>
                <a:ea typeface="Calibri" pitchFamily="34" charset="-122"/>
                <a:cs typeface="Calibri" pitchFamily="34" charset="-120"/>
              </a:rPr>
              <a:t>   2026 – 27</a:t>
            </a:r>
            <a:endParaRPr lang="en-US" sz="2500" dirty="0"/>
          </a:p>
        </p:txBody>
      </p:sp>
      <p:sp>
        <p:nvSpPr>
          <p:cNvPr id="7" name="Text 5"/>
          <p:cNvSpPr txBox="1"/>
          <p:nvPr/>
        </p:nvSpPr>
        <p:spPr>
          <a:xfrm>
            <a:off x="777239" y="3310127"/>
            <a:ext cx="6126479" cy="3251093"/>
          </a:xfrm>
          <a:prstGeom prst="rect">
            <a:avLst/>
          </a:prstGeom>
          <a:noFill/>
          <a:ln/>
        </p:spPr>
        <p:txBody>
          <a:bodyPr wrap="square" lIns="0" tIns="0" rIns="0" bIns="0" rtlCol="0" anchor="t"/>
          <a:lstStyle/>
          <a:p>
            <a:pPr marL="177800" indent="-177800">
              <a:spcAft>
                <a:spcPts val="500"/>
              </a:spcAft>
              <a:buSzPct val="100000"/>
              <a:buChar char="•"/>
            </a:pPr>
            <a:r>
              <a:rPr dirty="0">
                <a:latin typeface="Calibri"/>
              </a:rPr>
              <a:t>Theme ID - Theme 2: Smart Guided Troubleshooting Engine</a:t>
            </a:r>
          </a:p>
          <a:p>
            <a:r>
              <a:rPr dirty="0">
                <a:latin typeface="Calibri"/>
              </a:rPr>
              <a:t>Project - Smart Guided Troubleshooting Engine</a:t>
            </a:r>
          </a:p>
          <a:p>
            <a:r>
              <a:rPr dirty="0">
                <a:latin typeface="Calibri"/>
              </a:rPr>
              <a:t>Team - MSRIT_Git_Wrecked_Theme2</a:t>
            </a:r>
          </a:p>
          <a:p>
            <a:r>
              <a:rPr dirty="0">
                <a:latin typeface="Calibri"/>
              </a:rPr>
              <a:t>College - M. S. Ramaiah Institute of Technology</a:t>
            </a:r>
          </a:p>
          <a:p>
            <a:r>
              <a:rPr dirty="0">
                <a:latin typeface="Calibri"/>
              </a:rPr>
              <a:t>1. Deepak Sai Reddy A | 1ms25cs049@msrit.edu</a:t>
            </a:r>
          </a:p>
          <a:p>
            <a:r>
              <a:rPr dirty="0">
                <a:latin typeface="Calibri"/>
              </a:rPr>
              <a:t>2. Hemanth Kumar V | 1ms25cs065@msrit.edu</a:t>
            </a:r>
          </a:p>
          <a:p>
            <a:r>
              <a:rPr dirty="0">
                <a:latin typeface="Calibri"/>
              </a:rPr>
              <a:t>3. </a:t>
            </a:r>
            <a:r>
              <a:rPr dirty="0" err="1">
                <a:latin typeface="Calibri"/>
              </a:rPr>
              <a:t>Chappidi</a:t>
            </a:r>
            <a:r>
              <a:rPr dirty="0">
                <a:latin typeface="Calibri"/>
              </a:rPr>
              <a:t> Tejesh Reddy | 1ms25cs046@msrit.edu</a:t>
            </a:r>
          </a:p>
          <a:p>
            <a:r>
              <a:rPr dirty="0">
                <a:latin typeface="Calibri"/>
              </a:rPr>
              <a:t>4. Devansh Jain | 1ms25cs050@msrit.edu</a:t>
            </a:r>
          </a:p>
          <a:p>
            <a:r>
              <a:rPr dirty="0">
                <a:latin typeface="Calibri"/>
              </a:rPr>
              <a:t>GitHub - github.com/</a:t>
            </a:r>
            <a:r>
              <a:rPr dirty="0" err="1">
                <a:latin typeface="Calibri"/>
              </a:rPr>
              <a:t>DeepakReddyCodes</a:t>
            </a:r>
            <a:r>
              <a:rPr dirty="0">
                <a:latin typeface="Calibri"/>
              </a:rPr>
              <a:t>/samsung-theme2-troubleshooting</a:t>
            </a:r>
          </a:p>
        </p:txBody>
      </p:sp>
      <p:pic>
        <p:nvPicPr>
          <p:cNvPr id="14" name="Image 0" descr="hero_network.png"/>
          <p:cNvPicPr>
            <a:picLocks noChangeAspect="1"/>
          </p:cNvPicPr>
          <p:nvPr/>
        </p:nvPicPr>
        <p:blipFill>
          <a:blip r:embed="rId3"/>
          <a:stretch>
            <a:fillRect/>
          </a:stretch>
        </p:blipFill>
        <p:spPr>
          <a:xfrm>
            <a:off x="7059168" y="1051560"/>
            <a:ext cx="4572000" cy="457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457200" y="320040"/>
            <a:ext cx="11277295" cy="685800"/>
          </a:xfrm>
        </p:spPr>
        <p:txBody>
          <a:bodyPr anchor="ctr">
            <a:normAutofit/>
          </a:bodyPr>
          <a:lstStyle/>
          <a:p>
            <a:r>
              <a:rPr lang="en-IN" sz="3000" b="1" dirty="0">
                <a:solidFill>
                  <a:srgbClr val="704EA6"/>
                </a:solidFill>
                <a:latin typeface="+mn-lt"/>
                <a:cs typeface="Arial" pitchFamily="34" charset="-120"/>
              </a:rPr>
              <a:t>Theme</a:t>
            </a:r>
          </a:p>
        </p:txBody>
      </p:sp>
      <p:sp>
        <p:nvSpPr>
          <p:cNvPr id="3" name="TextBox 2"/>
          <p:cNvSpPr txBox="1"/>
          <p:nvPr/>
        </p:nvSpPr>
        <p:spPr>
          <a:xfrm>
            <a:off x="548640" y="1234440"/>
            <a:ext cx="4754880" cy="1554480"/>
          </a:xfrm>
          <a:prstGeom prst="rect">
            <a:avLst/>
          </a:prstGeom>
          <a:noFill/>
        </p:spPr>
        <p:txBody>
          <a:bodyPr wrap="square" lIns="0" tIns="0" rIns="0" bIns="0" anchor="t">
            <a:spAutoFit/>
          </a:bodyPr>
          <a:lstStyle/>
          <a:p>
            <a:pPr algn="l"/>
            <a:r>
              <a:rPr sz="2600" b="1" i="0">
                <a:latin typeface="Calibri"/>
              </a:rPr>
              <a:t>Turn a vague Galaxy complaint into grounded, executable Settings steps.</a:t>
            </a:r>
          </a:p>
        </p:txBody>
      </p:sp>
      <p:sp>
        <p:nvSpPr>
          <p:cNvPr id="4" name="TextBox 3"/>
          <p:cNvSpPr txBox="1"/>
          <p:nvPr/>
        </p:nvSpPr>
        <p:spPr>
          <a:xfrm>
            <a:off x="548640" y="2788920"/>
            <a:ext cx="4754880" cy="1188720"/>
          </a:xfrm>
          <a:prstGeom prst="rect">
            <a:avLst/>
          </a:prstGeom>
          <a:noFill/>
        </p:spPr>
        <p:txBody>
          <a:bodyPr wrap="square" lIns="0" tIns="0" rIns="0" bIns="0" anchor="t">
            <a:spAutoFit/>
          </a:bodyPr>
          <a:lstStyle/>
          <a:p>
            <a:pPr algn="l"/>
            <a:r>
              <a:rPr sz="1500" b="0" i="0">
                <a:latin typeface="Calibri"/>
              </a:rPr>
              <a:t>Theme 2 asks for a system that converts raw Samsung Galaxy complaints into ordered troubleshooting actions, each grounded in SIIS and mapped to a validated Settings deeplink, with a fast-path under the 300 ms target.</a:t>
            </a:r>
          </a:p>
        </p:txBody>
      </p:sp>
      <p:sp>
        <p:nvSpPr>
          <p:cNvPr id="5" name="Rounded Rectangle 4"/>
          <p:cNvSpPr/>
          <p:nvPr/>
        </p:nvSpPr>
        <p:spPr>
          <a:xfrm>
            <a:off x="548640" y="4206240"/>
            <a:ext cx="4754880" cy="1600200"/>
          </a:xfrm>
          <a:prstGeom prst="roundRect">
            <a:avLst>
              <a:gd name="adj" fmla="val 4571"/>
            </a:avLst>
          </a:prstGeom>
          <a:solidFill>
            <a:srgbClr val="F4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4343400"/>
            <a:ext cx="4297680" cy="274320"/>
          </a:xfrm>
          <a:prstGeom prst="rect">
            <a:avLst/>
          </a:prstGeom>
          <a:noFill/>
        </p:spPr>
        <p:txBody>
          <a:bodyPr wrap="square" lIns="0" tIns="0" rIns="0" bIns="0" anchor="t">
            <a:spAutoFit/>
          </a:bodyPr>
          <a:lstStyle/>
          <a:p>
            <a:pPr algn="l"/>
            <a:r>
              <a:rPr sz="1100" b="1" i="0">
                <a:solidFill>
                  <a:srgbClr val="6D28D9"/>
                </a:solidFill>
                <a:latin typeface="Calibri"/>
              </a:rPr>
              <a:t>EXAMPLE</a:t>
            </a:r>
          </a:p>
        </p:txBody>
      </p:sp>
      <p:sp>
        <p:nvSpPr>
          <p:cNvPr id="7" name="TextBox 6"/>
          <p:cNvSpPr txBox="1"/>
          <p:nvPr/>
        </p:nvSpPr>
        <p:spPr>
          <a:xfrm>
            <a:off x="777240" y="4617720"/>
            <a:ext cx="4297680" cy="1097280"/>
          </a:xfrm>
          <a:prstGeom prst="rect">
            <a:avLst/>
          </a:prstGeom>
          <a:noFill/>
        </p:spPr>
        <p:txBody>
          <a:bodyPr wrap="square" lIns="0" tIns="0" rIns="0" bIns="0" anchor="t">
            <a:spAutoFit/>
          </a:bodyPr>
          <a:lstStyle/>
          <a:p>
            <a:pPr algn="l">
              <a:spcAft>
                <a:spcPts val="300"/>
              </a:spcAft>
            </a:pPr>
            <a:r>
              <a:rPr sz="1400" b="0" i="1">
                <a:solidFill>
                  <a:srgbClr val="14142B"/>
                </a:solidFill>
                <a:latin typeface="Calibri"/>
              </a:rPr>
              <a:t>"My display keeps changing brightness by itself"</a:t>
            </a:r>
          </a:p>
          <a:p>
            <a:pPr algn="l">
              <a:spcAft>
                <a:spcPts val="300"/>
              </a:spcAft>
            </a:pPr>
            <a:r>
              <a:rPr sz="1400" b="1" i="0">
                <a:solidFill>
                  <a:srgbClr val="6D28D9"/>
                </a:solidFill>
                <a:latin typeface="Calibri"/>
              </a:rPr>
              <a:t>→ Turn off Adaptive brightness</a:t>
            </a:r>
          </a:p>
          <a:p>
            <a:pPr algn="l">
              <a:spcAft>
                <a:spcPts val="300"/>
              </a:spcAft>
            </a:pPr>
            <a:r>
              <a:rPr sz="1400" b="0" i="0">
                <a:solidFill>
                  <a:srgbClr val="555570"/>
                </a:solidFill>
                <a:latin typeface="Calibri"/>
              </a:rPr>
              <a:t>→ Opens the exact Settings screen</a:t>
            </a:r>
          </a:p>
        </p:txBody>
      </p:sp>
      <p:sp>
        <p:nvSpPr>
          <p:cNvPr id="8" name="Rounded Rectangle 7"/>
          <p:cNvSpPr/>
          <p:nvPr/>
        </p:nvSpPr>
        <p:spPr>
          <a:xfrm>
            <a:off x="5806440" y="1280160"/>
            <a:ext cx="2834640" cy="1325880"/>
          </a:xfrm>
          <a:prstGeom prst="roundRect">
            <a:avLst>
              <a:gd name="adj" fmla="val 5517"/>
            </a:avLst>
          </a:prstGeom>
          <a:solidFill>
            <a:srgbClr val="F4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989320" y="1463039"/>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1</a:t>
            </a:r>
          </a:p>
        </p:txBody>
      </p:sp>
      <p:sp>
        <p:nvSpPr>
          <p:cNvPr id="10" name="TextBox 9"/>
          <p:cNvSpPr txBox="1"/>
          <p:nvPr/>
        </p:nvSpPr>
        <p:spPr>
          <a:xfrm>
            <a:off x="6492240" y="1463039"/>
            <a:ext cx="2011680" cy="411480"/>
          </a:xfrm>
          <a:prstGeom prst="rect">
            <a:avLst/>
          </a:prstGeom>
          <a:noFill/>
        </p:spPr>
        <p:txBody>
          <a:bodyPr wrap="square" lIns="0" tIns="0" rIns="0" bIns="0" anchor="ctr">
            <a:spAutoFit/>
          </a:bodyPr>
          <a:lstStyle/>
          <a:p>
            <a:pPr algn="l"/>
            <a:r>
              <a:rPr sz="1500" b="1" i="0">
                <a:solidFill>
                  <a:srgbClr val="14142B"/>
                </a:solidFill>
                <a:latin typeface="Calibri"/>
              </a:rPr>
              <a:t>Query enrichment</a:t>
            </a:r>
          </a:p>
        </p:txBody>
      </p:sp>
      <p:sp>
        <p:nvSpPr>
          <p:cNvPr id="11" name="TextBox 10"/>
          <p:cNvSpPr txBox="1"/>
          <p:nvPr/>
        </p:nvSpPr>
        <p:spPr>
          <a:xfrm>
            <a:off x="5989320" y="2011680"/>
            <a:ext cx="2468880" cy="548640"/>
          </a:xfrm>
          <a:prstGeom prst="rect">
            <a:avLst/>
          </a:prstGeom>
          <a:noFill/>
        </p:spPr>
        <p:txBody>
          <a:bodyPr wrap="square" lIns="0" tIns="0" rIns="0" bIns="0" anchor="t">
            <a:spAutoFit/>
          </a:bodyPr>
          <a:lstStyle/>
          <a:p>
            <a:pPr algn="l"/>
            <a:r>
              <a:rPr sz="1300" b="0" i="0">
                <a:latin typeface="Calibri"/>
              </a:rPr>
              <a:t>Query enrichment</a:t>
            </a:r>
          </a:p>
        </p:txBody>
      </p:sp>
      <p:sp>
        <p:nvSpPr>
          <p:cNvPr id="12" name="Rounded Rectangle 11"/>
          <p:cNvSpPr/>
          <p:nvPr/>
        </p:nvSpPr>
        <p:spPr>
          <a:xfrm>
            <a:off x="8897112" y="1280160"/>
            <a:ext cx="2834640" cy="1325880"/>
          </a:xfrm>
          <a:prstGeom prst="roundRect">
            <a:avLst>
              <a:gd name="adj" fmla="val 5517"/>
            </a:avLst>
          </a:prstGeom>
          <a:solidFill>
            <a:srgbClr val="F4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t>Raw complaint → normalized technical query</a:t>
            </a:r>
          </a:p>
        </p:txBody>
      </p:sp>
      <p:sp>
        <p:nvSpPr>
          <p:cNvPr id="13" name="Oval 12"/>
          <p:cNvSpPr/>
          <p:nvPr/>
        </p:nvSpPr>
        <p:spPr>
          <a:xfrm>
            <a:off x="9079992" y="1463039"/>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2</a:t>
            </a:r>
          </a:p>
        </p:txBody>
      </p:sp>
      <p:sp>
        <p:nvSpPr>
          <p:cNvPr id="14" name="TextBox 13"/>
          <p:cNvSpPr txBox="1"/>
          <p:nvPr/>
        </p:nvSpPr>
        <p:spPr>
          <a:xfrm>
            <a:off x="9582912" y="1463039"/>
            <a:ext cx="2011680" cy="411480"/>
          </a:xfrm>
          <a:prstGeom prst="rect">
            <a:avLst/>
          </a:prstGeom>
          <a:noFill/>
        </p:spPr>
        <p:txBody>
          <a:bodyPr wrap="square" lIns="0" tIns="0" rIns="0" bIns="0" anchor="ctr">
            <a:spAutoFit/>
          </a:bodyPr>
          <a:lstStyle/>
          <a:p>
            <a:pPr algn="l"/>
            <a:r>
              <a:rPr sz="1500" b="1" i="0">
                <a:solidFill>
                  <a:srgbClr val="14142B"/>
                </a:solidFill>
                <a:latin typeface="Calibri"/>
              </a:rPr>
              <a:t>Two-stage LLM engine</a:t>
            </a:r>
          </a:p>
        </p:txBody>
      </p:sp>
      <p:sp>
        <p:nvSpPr>
          <p:cNvPr id="15" name="TextBox 14"/>
          <p:cNvSpPr txBox="1"/>
          <p:nvPr/>
        </p:nvSpPr>
        <p:spPr>
          <a:xfrm>
            <a:off x="9079992" y="2011680"/>
            <a:ext cx="2468880" cy="548640"/>
          </a:xfrm>
          <a:prstGeom prst="rect">
            <a:avLst/>
          </a:prstGeom>
          <a:noFill/>
        </p:spPr>
        <p:txBody>
          <a:bodyPr wrap="square" lIns="0" tIns="0" rIns="0" bIns="0" anchor="t">
            <a:spAutoFit/>
          </a:bodyPr>
          <a:lstStyle/>
          <a:p>
            <a:pPr algn="l"/>
            <a:r>
              <a:rPr sz="1300" b="0" i="0">
                <a:latin typeface="Calibri"/>
              </a:rPr>
              <a:t>Two-stage Gemini pipeline</a:t>
            </a:r>
          </a:p>
        </p:txBody>
      </p:sp>
      <p:sp>
        <p:nvSpPr>
          <p:cNvPr id="16" name="Rounded Rectangle 15"/>
          <p:cNvSpPr/>
          <p:nvPr/>
        </p:nvSpPr>
        <p:spPr>
          <a:xfrm>
            <a:off x="5806440" y="2834639"/>
            <a:ext cx="2834640" cy="1325880"/>
          </a:xfrm>
          <a:prstGeom prst="roundRect">
            <a:avLst>
              <a:gd name="adj" fmla="val 5517"/>
            </a:avLst>
          </a:prstGeom>
          <a:solidFill>
            <a:srgbClr val="F4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t>Enrichment + grounded action extraction</a:t>
            </a:r>
          </a:p>
        </p:txBody>
      </p:sp>
      <p:sp>
        <p:nvSpPr>
          <p:cNvPr id="17" name="Oval 16"/>
          <p:cNvSpPr/>
          <p:nvPr/>
        </p:nvSpPr>
        <p:spPr>
          <a:xfrm>
            <a:off x="5989320" y="3017520"/>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3</a:t>
            </a:r>
          </a:p>
        </p:txBody>
      </p:sp>
      <p:sp>
        <p:nvSpPr>
          <p:cNvPr id="18" name="TextBox 17"/>
          <p:cNvSpPr txBox="1"/>
          <p:nvPr/>
        </p:nvSpPr>
        <p:spPr>
          <a:xfrm>
            <a:off x="6492240" y="3017520"/>
            <a:ext cx="2011680" cy="411480"/>
          </a:xfrm>
          <a:prstGeom prst="rect">
            <a:avLst/>
          </a:prstGeom>
          <a:noFill/>
        </p:spPr>
        <p:txBody>
          <a:bodyPr wrap="square" lIns="0" tIns="0" rIns="0" bIns="0" anchor="ctr">
            <a:spAutoFit/>
          </a:bodyPr>
          <a:lstStyle/>
          <a:p>
            <a:pPr algn="l"/>
            <a:r>
              <a:rPr sz="1500" b="1" i="0">
                <a:solidFill>
                  <a:srgbClr val="14142B"/>
                </a:solidFill>
                <a:latin typeface="Calibri"/>
              </a:rPr>
              <a:t>Settings deeplinks</a:t>
            </a:r>
          </a:p>
        </p:txBody>
      </p:sp>
      <p:sp>
        <p:nvSpPr>
          <p:cNvPr id="19" name="TextBox 18"/>
          <p:cNvSpPr txBox="1"/>
          <p:nvPr/>
        </p:nvSpPr>
        <p:spPr>
          <a:xfrm>
            <a:off x="5989320" y="3566159"/>
            <a:ext cx="2468880" cy="548640"/>
          </a:xfrm>
          <a:prstGeom prst="rect">
            <a:avLst/>
          </a:prstGeom>
          <a:noFill/>
        </p:spPr>
        <p:txBody>
          <a:bodyPr wrap="square" lIns="0" tIns="0" rIns="0" bIns="0" anchor="t">
            <a:spAutoFit/>
          </a:bodyPr>
          <a:lstStyle/>
          <a:p>
            <a:pPr algn="l"/>
            <a:r>
              <a:rPr sz="1300" b="0" i="0">
                <a:latin typeface="Calibri"/>
              </a:rPr>
              <a:t>Settings deeplinks</a:t>
            </a:r>
          </a:p>
        </p:txBody>
      </p:sp>
      <p:sp>
        <p:nvSpPr>
          <p:cNvPr id="20" name="Rounded Rectangle 19"/>
          <p:cNvSpPr/>
          <p:nvPr/>
        </p:nvSpPr>
        <p:spPr>
          <a:xfrm>
            <a:off x="8897112" y="2834639"/>
            <a:ext cx="2834640" cy="1325880"/>
          </a:xfrm>
          <a:prstGeom prst="roundRect">
            <a:avLst>
              <a:gd name="adj" fmla="val 5517"/>
            </a:avLst>
          </a:prstGeom>
          <a:solidFill>
            <a:srgbClr val="F4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t>578-entry authoritative catalog</a:t>
            </a:r>
          </a:p>
        </p:txBody>
      </p:sp>
      <p:sp>
        <p:nvSpPr>
          <p:cNvPr id="21" name="Oval 20"/>
          <p:cNvSpPr/>
          <p:nvPr/>
        </p:nvSpPr>
        <p:spPr>
          <a:xfrm>
            <a:off x="9079992" y="3017520"/>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4</a:t>
            </a:r>
          </a:p>
        </p:txBody>
      </p:sp>
      <p:sp>
        <p:nvSpPr>
          <p:cNvPr id="22" name="TextBox 21"/>
          <p:cNvSpPr txBox="1"/>
          <p:nvPr/>
        </p:nvSpPr>
        <p:spPr>
          <a:xfrm>
            <a:off x="9582912" y="3017520"/>
            <a:ext cx="2011680" cy="411480"/>
          </a:xfrm>
          <a:prstGeom prst="rect">
            <a:avLst/>
          </a:prstGeom>
          <a:noFill/>
        </p:spPr>
        <p:txBody>
          <a:bodyPr wrap="square" lIns="0" tIns="0" rIns="0" bIns="0" anchor="ctr">
            <a:spAutoFit/>
          </a:bodyPr>
          <a:lstStyle/>
          <a:p>
            <a:pPr algn="l"/>
            <a:r>
              <a:rPr sz="1500" b="1" i="0">
                <a:solidFill>
                  <a:srgbClr val="14142B"/>
                </a:solidFill>
                <a:latin typeface="Calibri"/>
              </a:rPr>
              <a:t>Fast-path cache</a:t>
            </a:r>
          </a:p>
        </p:txBody>
      </p:sp>
      <p:sp>
        <p:nvSpPr>
          <p:cNvPr id="23" name="TextBox 22"/>
          <p:cNvSpPr txBox="1"/>
          <p:nvPr/>
        </p:nvSpPr>
        <p:spPr>
          <a:xfrm>
            <a:off x="9079992" y="3566159"/>
            <a:ext cx="2468880" cy="548640"/>
          </a:xfrm>
          <a:prstGeom prst="rect">
            <a:avLst/>
          </a:prstGeom>
          <a:noFill/>
        </p:spPr>
        <p:txBody>
          <a:bodyPr wrap="square" lIns="0" tIns="0" rIns="0" bIns="0" anchor="t">
            <a:spAutoFit/>
          </a:bodyPr>
          <a:lstStyle/>
          <a:p>
            <a:pPr algn="l"/>
            <a:r>
              <a:rPr sz="1300" b="0" i="0">
                <a:latin typeface="Calibri"/>
              </a:rPr>
              <a:t>Dual-tier semantic cache</a:t>
            </a:r>
          </a:p>
        </p:txBody>
      </p:sp>
      <p:sp>
        <p:nvSpPr>
          <p:cNvPr id="24" name="Rounded Rectangle 23"/>
          <p:cNvSpPr/>
          <p:nvPr/>
        </p:nvSpPr>
        <p:spPr>
          <a:xfrm>
            <a:off x="5806440" y="4389120"/>
            <a:ext cx="2834640" cy="1325880"/>
          </a:xfrm>
          <a:prstGeom prst="roundRect">
            <a:avLst>
              <a:gd name="adj" fmla="val 5517"/>
            </a:avLst>
          </a:prstGeom>
          <a:solidFill>
            <a:srgbClr val="F4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t>Exact + paraphrase fast paths</a:t>
            </a:r>
          </a:p>
        </p:txBody>
      </p:sp>
      <p:sp>
        <p:nvSpPr>
          <p:cNvPr id="25" name="Oval 24"/>
          <p:cNvSpPr/>
          <p:nvPr/>
        </p:nvSpPr>
        <p:spPr>
          <a:xfrm>
            <a:off x="5989320" y="4572000"/>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5</a:t>
            </a:r>
          </a:p>
        </p:txBody>
      </p:sp>
      <p:sp>
        <p:nvSpPr>
          <p:cNvPr id="26" name="TextBox 25"/>
          <p:cNvSpPr txBox="1"/>
          <p:nvPr/>
        </p:nvSpPr>
        <p:spPr>
          <a:xfrm>
            <a:off x="6492240" y="4572000"/>
            <a:ext cx="2011680" cy="411480"/>
          </a:xfrm>
          <a:prstGeom prst="rect">
            <a:avLst/>
          </a:prstGeom>
          <a:noFill/>
        </p:spPr>
        <p:txBody>
          <a:bodyPr wrap="square" lIns="0" tIns="0" rIns="0" bIns="0" anchor="ctr">
            <a:spAutoFit/>
          </a:bodyPr>
          <a:lstStyle/>
          <a:p>
            <a:pPr algn="l"/>
            <a:r>
              <a:rPr sz="1500" b="1" i="0">
                <a:solidFill>
                  <a:srgbClr val="14142B"/>
                </a:solidFill>
                <a:latin typeface="Calibri"/>
              </a:rPr>
              <a:t>REST API</a:t>
            </a:r>
          </a:p>
        </p:txBody>
      </p:sp>
      <p:sp>
        <p:nvSpPr>
          <p:cNvPr id="27" name="TextBox 26"/>
          <p:cNvSpPr txBox="1"/>
          <p:nvPr/>
        </p:nvSpPr>
        <p:spPr>
          <a:xfrm>
            <a:off x="5989320" y="5120640"/>
            <a:ext cx="2468880" cy="548640"/>
          </a:xfrm>
          <a:prstGeom prst="rect">
            <a:avLst/>
          </a:prstGeom>
          <a:noFill/>
        </p:spPr>
        <p:txBody>
          <a:bodyPr wrap="square" lIns="0" tIns="0" rIns="0" bIns="0" anchor="t">
            <a:spAutoFit/>
          </a:bodyPr>
          <a:lstStyle/>
          <a:p>
            <a:pPr algn="l"/>
            <a:r>
              <a:rPr sz="1300" b="0" i="0">
                <a:latin typeface="Calibri"/>
              </a:rPr>
              <a:t>REST API</a:t>
            </a:r>
          </a:p>
        </p:txBody>
      </p:sp>
      <p:sp>
        <p:nvSpPr>
          <p:cNvPr id="28" name="Rounded Rectangle 27"/>
          <p:cNvSpPr/>
          <p:nvPr/>
        </p:nvSpPr>
        <p:spPr>
          <a:xfrm>
            <a:off x="8897112" y="4389120"/>
            <a:ext cx="2834640" cy="1325880"/>
          </a:xfrm>
          <a:prstGeom prst="roundRect">
            <a:avLst>
              <a:gd name="adj" fmla="val 5517"/>
            </a:avLst>
          </a:prstGeom>
          <a:solidFill>
            <a:srgbClr val="F4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t>POST /v1/troubleshoot → structured JSON</a:t>
            </a:r>
          </a:p>
        </p:txBody>
      </p:sp>
      <p:sp>
        <p:nvSpPr>
          <p:cNvPr id="29" name="Oval 28"/>
          <p:cNvSpPr/>
          <p:nvPr/>
        </p:nvSpPr>
        <p:spPr>
          <a:xfrm>
            <a:off x="9079992" y="4572000"/>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6</a:t>
            </a:r>
          </a:p>
        </p:txBody>
      </p:sp>
      <p:sp>
        <p:nvSpPr>
          <p:cNvPr id="30" name="TextBox 29"/>
          <p:cNvSpPr txBox="1"/>
          <p:nvPr/>
        </p:nvSpPr>
        <p:spPr>
          <a:xfrm>
            <a:off x="9582912" y="4572000"/>
            <a:ext cx="2011680" cy="411480"/>
          </a:xfrm>
          <a:prstGeom prst="rect">
            <a:avLst/>
          </a:prstGeom>
          <a:noFill/>
        </p:spPr>
        <p:txBody>
          <a:bodyPr wrap="square" lIns="0" tIns="0" rIns="0" bIns="0" anchor="ctr">
            <a:spAutoFit/>
          </a:bodyPr>
          <a:lstStyle/>
          <a:p>
            <a:pPr algn="l"/>
            <a:r>
              <a:rPr sz="1500" b="1" i="0">
                <a:latin typeface="Calibri"/>
              </a:rPr>
              <a:t>Evaluation</a:t>
            </a:r>
          </a:p>
        </p:txBody>
      </p:sp>
      <p:sp>
        <p:nvSpPr>
          <p:cNvPr id="31" name="TextBox 30"/>
          <p:cNvSpPr txBox="1"/>
          <p:nvPr/>
        </p:nvSpPr>
        <p:spPr>
          <a:xfrm>
            <a:off x="9079992" y="5120640"/>
            <a:ext cx="2468880" cy="548640"/>
          </a:xfrm>
          <a:prstGeom prst="rect">
            <a:avLst/>
          </a:prstGeom>
          <a:noFill/>
        </p:spPr>
        <p:txBody>
          <a:bodyPr wrap="square" lIns="0" tIns="0" rIns="0" bIns="0" anchor="t">
            <a:spAutoFit/>
          </a:bodyPr>
          <a:lstStyle/>
          <a:p>
            <a:pPr algn="l"/>
            <a:r>
              <a:rPr sz="1300" b="0" i="0">
                <a:latin typeface="Calibri"/>
              </a:rPr>
              <a:t>104 automated tests + benchmarks</a:t>
            </a:r>
          </a:p>
        </p:txBody>
      </p:sp>
    </p:spTree>
    <p:extLst>
      <p:ext uri="{BB962C8B-B14F-4D97-AF65-F5344CB8AC3E}">
        <p14:creationId xmlns:p14="http://schemas.microsoft.com/office/powerpoint/2010/main" val="256478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457200" y="320040"/>
            <a:ext cx="11277295" cy="685800"/>
          </a:xfrm>
        </p:spPr>
        <p:txBody>
          <a:bodyPr anchor="ctr">
            <a:normAutofit/>
          </a:bodyPr>
          <a:lstStyle/>
          <a:p>
            <a:r>
              <a:rPr lang="en-IN" sz="3000" b="1" dirty="0">
                <a:solidFill>
                  <a:srgbClr val="704EA6"/>
                </a:solidFill>
                <a:latin typeface="+mn-lt"/>
                <a:cs typeface="Arial" pitchFamily="34" charset="-120"/>
              </a:rPr>
              <a:t>Existing Solutions &amp; Gaps</a:t>
            </a:r>
          </a:p>
        </p:txBody>
      </p:sp>
      <p:graphicFrame>
        <p:nvGraphicFramePr>
          <p:cNvPr id="3" name="Table 2"/>
          <p:cNvGraphicFramePr>
            <a:graphicFrameLocks noGrp="1"/>
          </p:cNvGraphicFramePr>
          <p:nvPr/>
        </p:nvGraphicFramePr>
        <p:xfrm>
          <a:off x="548640" y="1234440"/>
          <a:ext cx="11094415" cy="374904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5699455">
                  <a:extLst>
                    <a:ext uri="{9D8B030D-6E8A-4147-A177-3AD203B41FA5}">
                      <a16:colId xmlns:a16="http://schemas.microsoft.com/office/drawing/2014/main" val="20002"/>
                    </a:ext>
                  </a:extLst>
                </a:gridCol>
              </a:tblGrid>
              <a:tr h="457200">
                <a:tc>
                  <a:txBody>
                    <a:bodyPr/>
                    <a:lstStyle/>
                    <a:p>
                      <a:r>
                        <a:t>Approach</a:t>
                      </a:r>
                    </a:p>
                  </a:txBody>
                  <a:tcPr marL="137160" marR="137160" marT="54864" marB="54864" anchor="ctr">
                    <a:solidFill>
                      <a:srgbClr val="6D28D9"/>
                    </a:solidFill>
                  </a:tcPr>
                </a:tc>
                <a:tc>
                  <a:txBody>
                    <a:bodyPr/>
                    <a:lstStyle/>
                    <a:p>
                      <a:r>
                        <a:t>Does well</a:t>
                      </a:r>
                    </a:p>
                  </a:txBody>
                  <a:tcPr marL="137160" marR="137160" marT="54864" marB="54864" anchor="ctr">
                    <a:solidFill>
                      <a:srgbClr val="6D28D9"/>
                    </a:solidFill>
                  </a:tcPr>
                </a:tc>
                <a:tc>
                  <a:txBody>
                    <a:bodyPr/>
                    <a:lstStyle/>
                    <a:p>
                      <a:r>
                        <a:t>Where it breaks</a:t>
                      </a:r>
                    </a:p>
                  </a:txBody>
                  <a:tcPr marL="137160" marR="137160" marT="54864" marB="54864" anchor="ctr">
                    <a:solidFill>
                      <a:srgbClr val="6D28D9"/>
                    </a:solidFill>
                  </a:tcPr>
                </a:tc>
                <a:extLst>
                  <a:ext uri="{0D108BD9-81ED-4DB2-BD59-A6C34878D82A}">
                    <a16:rowId xmlns:a16="http://schemas.microsoft.com/office/drawing/2014/main" val="10000"/>
                  </a:ext>
                </a:extLst>
              </a:tr>
              <a:tr h="822960">
                <a:tc>
                  <a:txBody>
                    <a:bodyPr/>
                    <a:lstStyle/>
                    <a:p>
                      <a:r>
                        <a:t>Static FAQ / keyword search</a:t>
                      </a:r>
                    </a:p>
                  </a:txBody>
                  <a:tcPr marL="137160" marR="137160" marT="54864" marB="54864" anchor="ctr">
                    <a:solidFill>
                      <a:srgbClr val="FFFFFF"/>
                    </a:solidFill>
                  </a:tcPr>
                </a:tc>
                <a:tc>
                  <a:txBody>
                    <a:bodyPr/>
                    <a:lstStyle/>
                    <a:p>
                      <a:r>
                        <a:t>Fast and predictable</a:t>
                      </a:r>
                    </a:p>
                  </a:txBody>
                  <a:tcPr marL="137160" marR="137160" marT="54864" marB="54864" anchor="ctr">
                    <a:solidFill>
                      <a:srgbClr val="FFFFFF"/>
                    </a:solidFill>
                  </a:tcPr>
                </a:tc>
                <a:tc>
                  <a:txBody>
                    <a:bodyPr/>
                    <a:lstStyle/>
                    <a:p>
                      <a:r>
                        <a:t>Struggles with vague complaints; manual upkeep; no validated Settings deeplink</a:t>
                      </a:r>
                    </a:p>
                  </a:txBody>
                  <a:tcPr marL="137160" marR="137160" marT="54864" marB="54864" anchor="ctr">
                    <a:solidFill>
                      <a:srgbClr val="FFFFFF"/>
                    </a:solidFill>
                  </a:tcPr>
                </a:tc>
                <a:extLst>
                  <a:ext uri="{0D108BD9-81ED-4DB2-BD59-A6C34878D82A}">
                    <a16:rowId xmlns:a16="http://schemas.microsoft.com/office/drawing/2014/main" val="10001"/>
                  </a:ext>
                </a:extLst>
              </a:tr>
              <a:tr h="822960">
                <a:tc>
                  <a:txBody>
                    <a:bodyPr/>
                    <a:lstStyle/>
                    <a:p>
                      <a:r>
                        <a:t>Plain LLM chatbot</a:t>
                      </a:r>
                    </a:p>
                  </a:txBody>
                  <a:tcPr marL="137160" marR="137160" marT="54864" marB="54864" anchor="ctr">
                    <a:solidFill>
                      <a:srgbClr val="F4F0FD"/>
                    </a:solidFill>
                  </a:tcPr>
                </a:tc>
                <a:tc>
                  <a:txBody>
                    <a:bodyPr/>
                    <a:lstStyle/>
                    <a:p>
                      <a:r>
                        <a:t>Understands natural language</a:t>
                      </a:r>
                    </a:p>
                  </a:txBody>
                  <a:tcPr marL="137160" marR="137160" marT="54864" marB="54864" anchor="ctr">
                    <a:solidFill>
                      <a:srgbClr val="F4F0FD"/>
                    </a:solidFill>
                  </a:tcPr>
                </a:tc>
                <a:tc>
                  <a:txBody>
                    <a:bodyPr/>
                    <a:lstStyle/>
                    <a:p>
                      <a:r>
                        <a:t>Can invent unsupported fixes or deeplinks; repeated LLM cost</a:t>
                      </a:r>
                    </a:p>
                  </a:txBody>
                  <a:tcPr marL="137160" marR="137160" marT="54864" marB="54864" anchor="ctr">
                    <a:solidFill>
                      <a:srgbClr val="F4F0FD"/>
                    </a:solidFill>
                  </a:tcPr>
                </a:tc>
                <a:extLst>
                  <a:ext uri="{0D108BD9-81ED-4DB2-BD59-A6C34878D82A}">
                    <a16:rowId xmlns:a16="http://schemas.microsoft.com/office/drawing/2014/main" val="10002"/>
                  </a:ext>
                </a:extLst>
              </a:tr>
              <a:tr h="822960">
                <a:tc>
                  <a:txBody>
                    <a:bodyPr/>
                    <a:lstStyle/>
                    <a:p>
                      <a:r>
                        <a:t>Basic retrieval + LLM</a:t>
                      </a:r>
                    </a:p>
                  </a:txBody>
                  <a:tcPr marL="137160" marR="137160" marT="54864" marB="54864" anchor="ctr">
                    <a:solidFill>
                      <a:srgbClr val="FFFFFF"/>
                    </a:solidFill>
                  </a:tcPr>
                </a:tc>
                <a:tc>
                  <a:txBody>
                    <a:bodyPr/>
                    <a:lstStyle/>
                    <a:p>
                      <a:r>
                        <a:t>Uses retrieved knowledge</a:t>
                      </a:r>
                    </a:p>
                  </a:txBody>
                  <a:tcPr marL="137160" marR="137160" marT="54864" marB="54864" anchor="ctr">
                    <a:solidFill>
                      <a:srgbClr val="FFFFFF"/>
                    </a:solidFill>
                  </a:tcPr>
                </a:tc>
                <a:tc>
                  <a:txBody>
                    <a:bodyPr/>
                    <a:lstStyle/>
                    <a:p>
                      <a:r>
                        <a:t>Retrieved text is not enough; needs grounding, deeplink validation and context-safe caching</a:t>
                      </a:r>
                    </a:p>
                  </a:txBody>
                  <a:tcPr marL="137160" marR="137160" marT="54864" marB="54864" anchor="ctr">
                    <a:solidFill>
                      <a:srgbClr val="FFFFFF"/>
                    </a:solidFill>
                  </a:tcPr>
                </a:tc>
                <a:extLst>
                  <a:ext uri="{0D108BD9-81ED-4DB2-BD59-A6C34878D82A}">
                    <a16:rowId xmlns:a16="http://schemas.microsoft.com/office/drawing/2014/main" val="10003"/>
                  </a:ext>
                </a:extLst>
              </a:tr>
              <a:tr h="822960">
                <a:tc>
                  <a:txBody>
                    <a:bodyPr/>
                    <a:lstStyle/>
                    <a:p>
                      <a:r>
                        <a:t>Our engine</a:t>
                      </a:r>
                    </a:p>
                  </a:txBody>
                  <a:tcPr marL="137160" marR="137160" marT="54864" marB="54864" anchor="ctr">
                    <a:solidFill>
                      <a:srgbClr val="E6DDF8"/>
                    </a:solidFill>
                  </a:tcPr>
                </a:tc>
                <a:tc>
                  <a:txBody>
                    <a:bodyPr/>
                    <a:lstStyle/>
                    <a:p>
                      <a:r>
                        <a:t>Grounded, executable, fast</a:t>
                      </a:r>
                    </a:p>
                  </a:txBody>
                  <a:tcPr marL="137160" marR="137160" marT="54864" marB="54864" anchor="ctr">
                    <a:solidFill>
                      <a:srgbClr val="E6DDF8"/>
                    </a:solidFill>
                  </a:tcPr>
                </a:tc>
                <a:tc>
                  <a:txBody>
                    <a:bodyPr/>
                    <a:lstStyle/>
                    <a:p>
                      <a:r>
                        <a:t>Every surviving step is SIIS-grounded, mapped through the catalog, validated and safely cached</a:t>
                      </a:r>
                    </a:p>
                  </a:txBody>
                  <a:tcPr marL="137160" marR="137160" marT="54864" marB="54864" anchor="ctr">
                    <a:solidFill>
                      <a:srgbClr val="E6DDF8"/>
                    </a:solidFill>
                  </a:tcPr>
                </a:tc>
                <a:extLst>
                  <a:ext uri="{0D108BD9-81ED-4DB2-BD59-A6C34878D82A}">
                    <a16:rowId xmlns:a16="http://schemas.microsoft.com/office/drawing/2014/main" val="10004"/>
                  </a:ext>
                </a:extLst>
              </a:tr>
            </a:tbl>
          </a:graphicData>
        </a:graphic>
      </p:graphicFrame>
      <p:sp>
        <p:nvSpPr>
          <p:cNvPr id="4" name="Rounded Rectangle 3"/>
          <p:cNvSpPr/>
          <p:nvPr/>
        </p:nvSpPr>
        <p:spPr>
          <a:xfrm>
            <a:off x="548640" y="5303520"/>
            <a:ext cx="3515258" cy="868680"/>
          </a:xfrm>
          <a:prstGeom prst="roundRect">
            <a:avLst>
              <a:gd name="adj" fmla="val 8421"/>
            </a:avLst>
          </a:prstGeom>
          <a:solidFill>
            <a:srgbClr val="F4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31520" y="5504688"/>
            <a:ext cx="457200" cy="45720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a:t>
            </a:r>
          </a:p>
        </p:txBody>
      </p:sp>
      <p:sp>
        <p:nvSpPr>
          <p:cNvPr id="6" name="TextBox 5"/>
          <p:cNvSpPr txBox="1"/>
          <p:nvPr/>
        </p:nvSpPr>
        <p:spPr>
          <a:xfrm>
            <a:off x="1325880" y="5422392"/>
            <a:ext cx="2600858" cy="320040"/>
          </a:xfrm>
          <a:prstGeom prst="rect">
            <a:avLst/>
          </a:prstGeom>
          <a:noFill/>
        </p:spPr>
        <p:txBody>
          <a:bodyPr wrap="square" lIns="0" tIns="0" rIns="0" bIns="0" anchor="t">
            <a:spAutoFit/>
          </a:bodyPr>
          <a:lstStyle/>
          <a:p>
            <a:pPr algn="l"/>
            <a:r>
              <a:rPr sz="1500" b="1" i="0">
                <a:solidFill>
                  <a:srgbClr val="14142B"/>
                </a:solidFill>
                <a:latin typeface="Calibri"/>
              </a:rPr>
              <a:t>Hallucinated fixes</a:t>
            </a:r>
          </a:p>
        </p:txBody>
      </p:sp>
      <p:sp>
        <p:nvSpPr>
          <p:cNvPr id="7" name="TextBox 6"/>
          <p:cNvSpPr txBox="1"/>
          <p:nvPr/>
        </p:nvSpPr>
        <p:spPr>
          <a:xfrm>
            <a:off x="1325880" y="5760720"/>
            <a:ext cx="2600858" cy="365760"/>
          </a:xfrm>
          <a:prstGeom prst="rect">
            <a:avLst/>
          </a:prstGeom>
          <a:noFill/>
        </p:spPr>
        <p:txBody>
          <a:bodyPr wrap="square" lIns="0" tIns="0" rIns="0" bIns="0" anchor="t">
            <a:spAutoFit/>
          </a:bodyPr>
          <a:lstStyle/>
          <a:p>
            <a:pPr algn="l"/>
            <a:r>
              <a:rPr sz="1250" b="0" i="0">
                <a:solidFill>
                  <a:srgbClr val="555570"/>
                </a:solidFill>
                <a:latin typeface="Calibri"/>
              </a:rPr>
              <a:t>Steps with no evidence behind them</a:t>
            </a:r>
          </a:p>
        </p:txBody>
      </p:sp>
      <p:sp>
        <p:nvSpPr>
          <p:cNvPr id="8" name="Rounded Rectangle 7"/>
          <p:cNvSpPr/>
          <p:nvPr/>
        </p:nvSpPr>
        <p:spPr>
          <a:xfrm>
            <a:off x="4338218" y="5303520"/>
            <a:ext cx="3515258" cy="868680"/>
          </a:xfrm>
          <a:prstGeom prst="roundRect">
            <a:avLst>
              <a:gd name="adj" fmla="val 8421"/>
            </a:avLst>
          </a:prstGeom>
          <a:solidFill>
            <a:srgbClr val="F4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4521098" y="5504688"/>
            <a:ext cx="457200" cy="45720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a:t>
            </a:r>
          </a:p>
        </p:txBody>
      </p:sp>
      <p:sp>
        <p:nvSpPr>
          <p:cNvPr id="10" name="TextBox 9"/>
          <p:cNvSpPr txBox="1"/>
          <p:nvPr/>
        </p:nvSpPr>
        <p:spPr>
          <a:xfrm>
            <a:off x="5115458" y="5422392"/>
            <a:ext cx="2600858" cy="320040"/>
          </a:xfrm>
          <a:prstGeom prst="rect">
            <a:avLst/>
          </a:prstGeom>
          <a:noFill/>
        </p:spPr>
        <p:txBody>
          <a:bodyPr wrap="square" lIns="0" tIns="0" rIns="0" bIns="0" anchor="t">
            <a:spAutoFit/>
          </a:bodyPr>
          <a:lstStyle/>
          <a:p>
            <a:pPr algn="l"/>
            <a:r>
              <a:rPr sz="1500" b="1" i="0">
                <a:solidFill>
                  <a:srgbClr val="14142B"/>
                </a:solidFill>
                <a:latin typeface="Calibri"/>
              </a:rPr>
              <a:t>No executable navigation</a:t>
            </a:r>
          </a:p>
        </p:txBody>
      </p:sp>
      <p:sp>
        <p:nvSpPr>
          <p:cNvPr id="11" name="TextBox 10"/>
          <p:cNvSpPr txBox="1"/>
          <p:nvPr/>
        </p:nvSpPr>
        <p:spPr>
          <a:xfrm>
            <a:off x="5115458" y="5760720"/>
            <a:ext cx="2600858" cy="365760"/>
          </a:xfrm>
          <a:prstGeom prst="rect">
            <a:avLst/>
          </a:prstGeom>
          <a:noFill/>
        </p:spPr>
        <p:txBody>
          <a:bodyPr wrap="square" lIns="0" tIns="0" rIns="0" bIns="0" anchor="t">
            <a:spAutoFit/>
          </a:bodyPr>
          <a:lstStyle/>
          <a:p>
            <a:pPr algn="l"/>
            <a:r>
              <a:rPr sz="1250" b="0" i="0">
                <a:solidFill>
                  <a:srgbClr val="555570"/>
                </a:solidFill>
                <a:latin typeface="Calibri"/>
              </a:rPr>
              <a:t>Text advice, not a tap-to-open screen</a:t>
            </a:r>
          </a:p>
        </p:txBody>
      </p:sp>
      <p:sp>
        <p:nvSpPr>
          <p:cNvPr id="12" name="Rounded Rectangle 11"/>
          <p:cNvSpPr/>
          <p:nvPr/>
        </p:nvSpPr>
        <p:spPr>
          <a:xfrm>
            <a:off x="8127796" y="5303520"/>
            <a:ext cx="3515258" cy="868680"/>
          </a:xfrm>
          <a:prstGeom prst="roundRect">
            <a:avLst>
              <a:gd name="adj" fmla="val 8421"/>
            </a:avLst>
          </a:prstGeom>
          <a:solidFill>
            <a:srgbClr val="F4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310676" y="5504688"/>
            <a:ext cx="457200" cy="45720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a:t>
            </a:r>
          </a:p>
        </p:txBody>
      </p:sp>
      <p:sp>
        <p:nvSpPr>
          <p:cNvPr id="14" name="TextBox 13"/>
          <p:cNvSpPr txBox="1"/>
          <p:nvPr/>
        </p:nvSpPr>
        <p:spPr>
          <a:xfrm>
            <a:off x="8905036" y="5422392"/>
            <a:ext cx="2600858" cy="320040"/>
          </a:xfrm>
          <a:prstGeom prst="rect">
            <a:avLst/>
          </a:prstGeom>
          <a:noFill/>
        </p:spPr>
        <p:txBody>
          <a:bodyPr wrap="square" lIns="0" tIns="0" rIns="0" bIns="0" anchor="t">
            <a:spAutoFit/>
          </a:bodyPr>
          <a:lstStyle/>
          <a:p>
            <a:pPr algn="l"/>
            <a:r>
              <a:rPr sz="1500" b="1" i="0">
                <a:solidFill>
                  <a:srgbClr val="14142B"/>
                </a:solidFill>
                <a:latin typeface="Calibri"/>
              </a:rPr>
              <a:t>Unsafe caching</a:t>
            </a:r>
          </a:p>
        </p:txBody>
      </p:sp>
      <p:sp>
        <p:nvSpPr>
          <p:cNvPr id="15" name="TextBox 14"/>
          <p:cNvSpPr txBox="1"/>
          <p:nvPr/>
        </p:nvSpPr>
        <p:spPr>
          <a:xfrm>
            <a:off x="8905036" y="5760720"/>
            <a:ext cx="2600858" cy="365760"/>
          </a:xfrm>
          <a:prstGeom prst="rect">
            <a:avLst/>
          </a:prstGeom>
          <a:noFill/>
        </p:spPr>
        <p:txBody>
          <a:bodyPr wrap="square" lIns="0" tIns="0" rIns="0" bIns="0" anchor="t">
            <a:spAutoFit/>
          </a:bodyPr>
          <a:lstStyle/>
          <a:p>
            <a:pPr algn="l"/>
            <a:r>
              <a:rPr sz="1250" b="0" i="0">
                <a:solidFill>
                  <a:srgbClr val="555570"/>
                </a:solidFill>
                <a:latin typeface="Calibri"/>
              </a:rPr>
              <a:t>Stale or cross-context answers</a:t>
            </a:r>
          </a:p>
        </p:txBody>
      </p:sp>
    </p:spTree>
    <p:extLst>
      <p:ext uri="{BB962C8B-B14F-4D97-AF65-F5344CB8AC3E}">
        <p14:creationId xmlns:p14="http://schemas.microsoft.com/office/powerpoint/2010/main" val="1549970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457200" y="320040"/>
            <a:ext cx="11277295" cy="685800"/>
          </a:xfrm>
        </p:spPr>
        <p:txBody>
          <a:bodyPr anchor="ctr"/>
          <a:lstStyle/>
          <a:p>
            <a:r>
              <a:rPr lang="en-IN" sz="3000" b="1" dirty="0">
                <a:solidFill>
                  <a:srgbClr val="704EA6"/>
                </a:solidFill>
                <a:latin typeface="+mn-lt"/>
              </a:rPr>
              <a:t>Our Solutions &amp; Architecture Diagram</a:t>
            </a:r>
          </a:p>
        </p:txBody>
      </p:sp>
      <p:sp>
        <p:nvSpPr>
          <p:cNvPr id="3" name="Rounded Rectangle 2"/>
          <p:cNvSpPr/>
          <p:nvPr/>
        </p:nvSpPr>
        <p:spPr>
          <a:xfrm>
            <a:off x="548640" y="1280160"/>
            <a:ext cx="1874519" cy="1298448"/>
          </a:xfrm>
          <a:prstGeom prst="roundRect">
            <a:avLst>
              <a:gd name="adj" fmla="val 5633"/>
            </a:avLst>
          </a:prstGeom>
          <a:solidFill>
            <a:srgbClr val="F4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685800" y="1417319"/>
            <a:ext cx="329184" cy="32918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1</a:t>
            </a:r>
          </a:p>
        </p:txBody>
      </p:sp>
      <p:sp>
        <p:nvSpPr>
          <p:cNvPr id="5" name="TextBox 4"/>
          <p:cNvSpPr txBox="1"/>
          <p:nvPr/>
        </p:nvSpPr>
        <p:spPr>
          <a:xfrm>
            <a:off x="1097280" y="1417319"/>
            <a:ext cx="1234439" cy="329184"/>
          </a:xfrm>
          <a:prstGeom prst="rect">
            <a:avLst/>
          </a:prstGeom>
          <a:noFill/>
        </p:spPr>
        <p:txBody>
          <a:bodyPr wrap="square" lIns="0" tIns="0" rIns="0" bIns="0" anchor="ctr">
            <a:spAutoFit/>
          </a:bodyPr>
          <a:lstStyle/>
          <a:p>
            <a:pPr algn="l"/>
            <a:r>
              <a:rPr sz="1300" b="1" i="0">
                <a:solidFill>
                  <a:srgbClr val="14142B"/>
                </a:solidFill>
                <a:latin typeface="Calibri"/>
              </a:rPr>
              <a:t>Complaint to REST API</a:t>
            </a:r>
          </a:p>
        </p:txBody>
      </p:sp>
      <p:sp>
        <p:nvSpPr>
          <p:cNvPr id="6" name="TextBox 5"/>
          <p:cNvSpPr txBox="1"/>
          <p:nvPr/>
        </p:nvSpPr>
        <p:spPr>
          <a:xfrm>
            <a:off x="685800" y="1847088"/>
            <a:ext cx="1600199" cy="685800"/>
          </a:xfrm>
          <a:prstGeom prst="rect">
            <a:avLst/>
          </a:prstGeom>
          <a:noFill/>
        </p:spPr>
        <p:txBody>
          <a:bodyPr wrap="square" lIns="0" tIns="0" rIns="0" bIns="0" anchor="t">
            <a:spAutoFit/>
          </a:bodyPr>
          <a:lstStyle/>
          <a:p>
            <a:pPr algn="l"/>
            <a:r>
              <a:rPr sz="1200" b="0" i="0">
                <a:solidFill>
                  <a:srgbClr val="555570"/>
                </a:solidFill>
                <a:latin typeface="Calibri"/>
              </a:rPr>
              <a:t>POST /v1/troubleshoot with complaint + SIIS response</a:t>
            </a:r>
          </a:p>
        </p:txBody>
      </p:sp>
      <p:sp>
        <p:nvSpPr>
          <p:cNvPr id="7" name="Rounded Rectangle 6"/>
          <p:cNvSpPr/>
          <p:nvPr/>
        </p:nvSpPr>
        <p:spPr>
          <a:xfrm>
            <a:off x="2853613" y="1280160"/>
            <a:ext cx="1874519" cy="1298448"/>
          </a:xfrm>
          <a:prstGeom prst="roundRect">
            <a:avLst>
              <a:gd name="adj" fmla="val 5633"/>
            </a:avLst>
          </a:prstGeom>
          <a:solidFill>
            <a:srgbClr val="F4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2990773" y="1417319"/>
            <a:ext cx="329184" cy="32918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2</a:t>
            </a:r>
          </a:p>
        </p:txBody>
      </p:sp>
      <p:sp>
        <p:nvSpPr>
          <p:cNvPr id="9" name="TextBox 8"/>
          <p:cNvSpPr txBox="1"/>
          <p:nvPr/>
        </p:nvSpPr>
        <p:spPr>
          <a:xfrm>
            <a:off x="3402253" y="1417319"/>
            <a:ext cx="1234439" cy="329184"/>
          </a:xfrm>
          <a:prstGeom prst="rect">
            <a:avLst/>
          </a:prstGeom>
          <a:noFill/>
        </p:spPr>
        <p:txBody>
          <a:bodyPr wrap="square" lIns="0" tIns="0" rIns="0" bIns="0" anchor="ctr">
            <a:spAutoFit/>
          </a:bodyPr>
          <a:lstStyle/>
          <a:p>
            <a:pPr algn="l"/>
            <a:r>
              <a:rPr sz="1300" b="1" i="0">
                <a:solidFill>
                  <a:srgbClr val="14142B"/>
                </a:solidFill>
                <a:latin typeface="Calibri"/>
              </a:rPr>
              <a:t>Stage 1: Enrichment</a:t>
            </a:r>
          </a:p>
        </p:txBody>
      </p:sp>
      <p:sp>
        <p:nvSpPr>
          <p:cNvPr id="10" name="TextBox 9"/>
          <p:cNvSpPr txBox="1"/>
          <p:nvPr/>
        </p:nvSpPr>
        <p:spPr>
          <a:xfrm>
            <a:off x="2990773" y="1847088"/>
            <a:ext cx="1600199" cy="685800"/>
          </a:xfrm>
          <a:prstGeom prst="rect">
            <a:avLst/>
          </a:prstGeom>
          <a:noFill/>
        </p:spPr>
        <p:txBody>
          <a:bodyPr wrap="square" lIns="0" tIns="0" rIns="0" bIns="0" anchor="t">
            <a:spAutoFit/>
          </a:bodyPr>
          <a:lstStyle/>
          <a:p>
            <a:pPr algn="l"/>
            <a:r>
              <a:rPr sz="1200" b="0" i="0">
                <a:solidFill>
                  <a:srgbClr val="555570"/>
                </a:solidFill>
                <a:latin typeface="Calibri"/>
              </a:rPr>
              <a:t>LLM extracts symptom, domain, polarity, intent</a:t>
            </a:r>
          </a:p>
        </p:txBody>
      </p:sp>
      <p:sp>
        <p:nvSpPr>
          <p:cNvPr id="11" name="Rounded Rectangle 10"/>
          <p:cNvSpPr/>
          <p:nvPr/>
        </p:nvSpPr>
        <p:spPr>
          <a:xfrm>
            <a:off x="5158587" y="1280160"/>
            <a:ext cx="1874519" cy="1298448"/>
          </a:xfrm>
          <a:prstGeom prst="roundRect">
            <a:avLst>
              <a:gd name="adj" fmla="val 5633"/>
            </a:avLst>
          </a:prstGeom>
          <a:solidFill>
            <a:srgbClr val="F4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5295747" y="1417319"/>
            <a:ext cx="329184" cy="32918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3</a:t>
            </a:r>
          </a:p>
        </p:txBody>
      </p:sp>
      <p:sp>
        <p:nvSpPr>
          <p:cNvPr id="13" name="TextBox 12"/>
          <p:cNvSpPr txBox="1"/>
          <p:nvPr/>
        </p:nvSpPr>
        <p:spPr>
          <a:xfrm>
            <a:off x="5707227" y="1417319"/>
            <a:ext cx="1234439" cy="329184"/>
          </a:xfrm>
          <a:prstGeom prst="rect">
            <a:avLst/>
          </a:prstGeom>
          <a:noFill/>
        </p:spPr>
        <p:txBody>
          <a:bodyPr wrap="square" lIns="0" tIns="0" rIns="0" bIns="0" anchor="ctr">
            <a:spAutoFit/>
          </a:bodyPr>
          <a:lstStyle/>
          <a:p>
            <a:pPr algn="l"/>
            <a:r>
              <a:rPr sz="1300" b="1" i="0">
                <a:solidFill>
                  <a:srgbClr val="14142B"/>
                </a:solidFill>
                <a:latin typeface="Calibri"/>
              </a:rPr>
              <a:t>SIIS Alignment</a:t>
            </a:r>
          </a:p>
        </p:txBody>
      </p:sp>
      <p:sp>
        <p:nvSpPr>
          <p:cNvPr id="14" name="TextBox 13"/>
          <p:cNvSpPr txBox="1"/>
          <p:nvPr/>
        </p:nvSpPr>
        <p:spPr>
          <a:xfrm>
            <a:off x="5295747" y="1847088"/>
            <a:ext cx="1600199" cy="685800"/>
          </a:xfrm>
          <a:prstGeom prst="rect">
            <a:avLst/>
          </a:prstGeom>
          <a:noFill/>
        </p:spPr>
        <p:txBody>
          <a:bodyPr wrap="square" lIns="0" tIns="0" rIns="0" bIns="0" anchor="t">
            <a:spAutoFit/>
          </a:bodyPr>
          <a:lstStyle/>
          <a:p>
            <a:pPr algn="l"/>
            <a:r>
              <a:rPr sz="1200" b="0" i="0">
                <a:latin typeface="Calibri"/>
              </a:rPr>
              <a:t>Match SIIS evidence + fingerprint full context</a:t>
            </a:r>
          </a:p>
        </p:txBody>
      </p:sp>
      <p:sp>
        <p:nvSpPr>
          <p:cNvPr id="15" name="Rounded Rectangle 14"/>
          <p:cNvSpPr/>
          <p:nvPr/>
        </p:nvSpPr>
        <p:spPr>
          <a:xfrm>
            <a:off x="7463561" y="1280160"/>
            <a:ext cx="1874519" cy="1298448"/>
          </a:xfrm>
          <a:prstGeom prst="roundRect">
            <a:avLst>
              <a:gd name="adj" fmla="val 5633"/>
            </a:avLst>
          </a:prstGeom>
          <a:solidFill>
            <a:srgbClr val="F4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600721" y="1417319"/>
            <a:ext cx="329184" cy="32918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4</a:t>
            </a:r>
          </a:p>
        </p:txBody>
      </p:sp>
      <p:sp>
        <p:nvSpPr>
          <p:cNvPr id="17" name="TextBox 16"/>
          <p:cNvSpPr txBox="1"/>
          <p:nvPr/>
        </p:nvSpPr>
        <p:spPr>
          <a:xfrm>
            <a:off x="8012201" y="1417319"/>
            <a:ext cx="1234439" cy="329184"/>
          </a:xfrm>
          <a:prstGeom prst="rect">
            <a:avLst/>
          </a:prstGeom>
          <a:noFill/>
        </p:spPr>
        <p:txBody>
          <a:bodyPr wrap="square" lIns="0" tIns="0" rIns="0" bIns="0" anchor="ctr">
            <a:spAutoFit/>
          </a:bodyPr>
          <a:lstStyle/>
          <a:p>
            <a:pPr algn="l"/>
            <a:r>
              <a:rPr sz="1300" b="1" i="0">
                <a:solidFill>
                  <a:srgbClr val="14142B"/>
                </a:solidFill>
                <a:latin typeface="Calibri"/>
              </a:rPr>
              <a:t>Stage 2: Structuring</a:t>
            </a:r>
          </a:p>
        </p:txBody>
      </p:sp>
      <p:sp>
        <p:nvSpPr>
          <p:cNvPr id="18" name="TextBox 17"/>
          <p:cNvSpPr txBox="1"/>
          <p:nvPr/>
        </p:nvSpPr>
        <p:spPr>
          <a:xfrm>
            <a:off x="7600721" y="1847088"/>
            <a:ext cx="1600199" cy="685800"/>
          </a:xfrm>
          <a:prstGeom prst="rect">
            <a:avLst/>
          </a:prstGeom>
          <a:noFill/>
        </p:spPr>
        <p:txBody>
          <a:bodyPr wrap="square" lIns="0" tIns="0" rIns="0" bIns="0" anchor="t">
            <a:spAutoFit/>
          </a:bodyPr>
          <a:lstStyle/>
          <a:p>
            <a:pPr algn="l"/>
            <a:r>
              <a:rPr sz="1200" b="0" i="0">
                <a:latin typeface="Calibri"/>
              </a:rPr>
              <a:t>Gemini structures candidate steps in frozen JSON</a:t>
            </a:r>
          </a:p>
        </p:txBody>
      </p:sp>
      <p:sp>
        <p:nvSpPr>
          <p:cNvPr id="19" name="Rounded Rectangle 18"/>
          <p:cNvSpPr/>
          <p:nvPr/>
        </p:nvSpPr>
        <p:spPr>
          <a:xfrm>
            <a:off x="9768535" y="1280160"/>
            <a:ext cx="1874519" cy="1298448"/>
          </a:xfrm>
          <a:prstGeom prst="roundRect">
            <a:avLst>
              <a:gd name="adj" fmla="val 5633"/>
            </a:avLst>
          </a:prstGeom>
          <a:solidFill>
            <a:srgbClr val="F4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9905695" y="1417319"/>
            <a:ext cx="329184" cy="32918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5</a:t>
            </a:r>
          </a:p>
        </p:txBody>
      </p:sp>
      <p:sp>
        <p:nvSpPr>
          <p:cNvPr id="21" name="TextBox 20"/>
          <p:cNvSpPr txBox="1"/>
          <p:nvPr/>
        </p:nvSpPr>
        <p:spPr>
          <a:xfrm>
            <a:off x="10317175" y="1417319"/>
            <a:ext cx="1234439" cy="329184"/>
          </a:xfrm>
          <a:prstGeom prst="rect">
            <a:avLst/>
          </a:prstGeom>
          <a:noFill/>
        </p:spPr>
        <p:txBody>
          <a:bodyPr wrap="square" lIns="0" tIns="0" rIns="0" bIns="0" anchor="ctr">
            <a:spAutoFit/>
          </a:bodyPr>
          <a:lstStyle/>
          <a:p>
            <a:pPr algn="l"/>
            <a:r>
              <a:rPr sz="1300" b="1" i="0">
                <a:solidFill>
                  <a:srgbClr val="14142B"/>
                </a:solidFill>
                <a:latin typeface="Calibri"/>
              </a:rPr>
              <a:t>Grounding Firewall</a:t>
            </a:r>
          </a:p>
        </p:txBody>
      </p:sp>
      <p:sp>
        <p:nvSpPr>
          <p:cNvPr id="22" name="TextBox 21"/>
          <p:cNvSpPr txBox="1"/>
          <p:nvPr/>
        </p:nvSpPr>
        <p:spPr>
          <a:xfrm>
            <a:off x="9905695" y="1847088"/>
            <a:ext cx="1600199" cy="685800"/>
          </a:xfrm>
          <a:prstGeom prst="rect">
            <a:avLst/>
          </a:prstGeom>
          <a:noFill/>
        </p:spPr>
        <p:txBody>
          <a:bodyPr wrap="square" lIns="0" tIns="0" rIns="0" bIns="0" anchor="t">
            <a:spAutoFit/>
          </a:bodyPr>
          <a:lstStyle/>
          <a:p>
            <a:pPr algn="l"/>
            <a:r>
              <a:rPr sz="1200" b="0" i="0">
                <a:solidFill>
                  <a:srgbClr val="555570"/>
                </a:solidFill>
                <a:latin typeface="Calibri"/>
              </a:rPr>
              <a:t>Each fact must exist in SIIS evidence</a:t>
            </a:r>
          </a:p>
        </p:txBody>
      </p:sp>
      <p:sp>
        <p:nvSpPr>
          <p:cNvPr id="23" name="Rounded Rectangle 22"/>
          <p:cNvSpPr/>
          <p:nvPr/>
        </p:nvSpPr>
        <p:spPr>
          <a:xfrm>
            <a:off x="548640" y="3429000"/>
            <a:ext cx="1874519" cy="1298448"/>
          </a:xfrm>
          <a:prstGeom prst="roundRect">
            <a:avLst>
              <a:gd name="adj" fmla="val 5633"/>
            </a:avLst>
          </a:prstGeom>
          <a:solidFill>
            <a:srgbClr val="FFFFFF"/>
          </a:solidFill>
          <a:ln w="22225">
            <a:solidFill>
              <a:srgbClr val="B4530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685800" y="3566160"/>
            <a:ext cx="329184" cy="329184"/>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6</a:t>
            </a:r>
          </a:p>
        </p:txBody>
      </p:sp>
      <p:sp>
        <p:nvSpPr>
          <p:cNvPr id="25" name="TextBox 24"/>
          <p:cNvSpPr txBox="1"/>
          <p:nvPr/>
        </p:nvSpPr>
        <p:spPr>
          <a:xfrm>
            <a:off x="1097280" y="3566160"/>
            <a:ext cx="1234439" cy="329184"/>
          </a:xfrm>
          <a:prstGeom prst="rect">
            <a:avLst/>
          </a:prstGeom>
          <a:noFill/>
        </p:spPr>
        <p:txBody>
          <a:bodyPr wrap="square" lIns="0" tIns="0" rIns="0" bIns="0" anchor="ctr">
            <a:spAutoFit/>
          </a:bodyPr>
          <a:lstStyle/>
          <a:p>
            <a:pPr algn="l"/>
            <a:r>
              <a:rPr sz="1300" b="1" i="0">
                <a:solidFill>
                  <a:srgbClr val="14142B"/>
                </a:solidFill>
                <a:latin typeface="Calibri"/>
              </a:rPr>
              <a:t>Evidence Sufficient?</a:t>
            </a:r>
          </a:p>
        </p:txBody>
      </p:sp>
      <p:sp>
        <p:nvSpPr>
          <p:cNvPr id="26" name="TextBox 25"/>
          <p:cNvSpPr txBox="1"/>
          <p:nvPr/>
        </p:nvSpPr>
        <p:spPr>
          <a:xfrm>
            <a:off x="685800" y="3995928"/>
            <a:ext cx="1600199" cy="685800"/>
          </a:xfrm>
          <a:prstGeom prst="rect">
            <a:avLst/>
          </a:prstGeom>
          <a:noFill/>
        </p:spPr>
        <p:txBody>
          <a:bodyPr wrap="square" lIns="0" tIns="0" rIns="0" bIns="0" anchor="t">
            <a:spAutoFit/>
          </a:bodyPr>
          <a:lstStyle/>
          <a:p>
            <a:pPr algn="l"/>
            <a:r>
              <a:rPr sz="1200" b="0" i="0">
                <a:latin typeface="Calibri"/>
              </a:rPr>
              <a:t>If evidence is insufficient, NBE selects the highest-utility evidence</a:t>
            </a:r>
          </a:p>
        </p:txBody>
      </p:sp>
      <p:sp>
        <p:nvSpPr>
          <p:cNvPr id="27" name="Rounded Rectangle 26"/>
          <p:cNvSpPr/>
          <p:nvPr/>
        </p:nvSpPr>
        <p:spPr>
          <a:xfrm>
            <a:off x="1463039" y="4709160"/>
            <a:ext cx="960120" cy="237744"/>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latin typeface="Calibri"/>
              </a:rPr>
              <a:t>IMPLEMENTED</a:t>
            </a:r>
          </a:p>
        </p:txBody>
      </p:sp>
      <p:sp>
        <p:nvSpPr>
          <p:cNvPr id="28" name="Rounded Rectangle 27"/>
          <p:cNvSpPr/>
          <p:nvPr/>
        </p:nvSpPr>
        <p:spPr>
          <a:xfrm>
            <a:off x="2853613" y="3429000"/>
            <a:ext cx="1874519" cy="1298448"/>
          </a:xfrm>
          <a:prstGeom prst="roundRect">
            <a:avLst>
              <a:gd name="adj" fmla="val 5633"/>
            </a:avLst>
          </a:prstGeom>
          <a:solidFill>
            <a:srgbClr val="F4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2990773" y="3566160"/>
            <a:ext cx="329184" cy="32918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7</a:t>
            </a:r>
          </a:p>
        </p:txBody>
      </p:sp>
      <p:sp>
        <p:nvSpPr>
          <p:cNvPr id="30" name="TextBox 29"/>
          <p:cNvSpPr txBox="1"/>
          <p:nvPr/>
        </p:nvSpPr>
        <p:spPr>
          <a:xfrm>
            <a:off x="3402253" y="3566160"/>
            <a:ext cx="1234439" cy="329184"/>
          </a:xfrm>
          <a:prstGeom prst="rect">
            <a:avLst/>
          </a:prstGeom>
          <a:noFill/>
        </p:spPr>
        <p:txBody>
          <a:bodyPr wrap="square" lIns="0" tIns="0" rIns="0" bIns="0" anchor="ctr">
            <a:spAutoFit/>
          </a:bodyPr>
          <a:lstStyle/>
          <a:p>
            <a:pPr algn="l"/>
            <a:r>
              <a:rPr sz="1300" b="1" i="0">
                <a:solidFill>
                  <a:srgbClr val="14142B"/>
                </a:solidFill>
                <a:latin typeface="Calibri"/>
              </a:rPr>
              <a:t>Deeplink Retrieval</a:t>
            </a:r>
          </a:p>
        </p:txBody>
      </p:sp>
      <p:sp>
        <p:nvSpPr>
          <p:cNvPr id="31" name="TextBox 30"/>
          <p:cNvSpPr txBox="1"/>
          <p:nvPr/>
        </p:nvSpPr>
        <p:spPr>
          <a:xfrm>
            <a:off x="2990773" y="3995928"/>
            <a:ext cx="1600199" cy="685800"/>
          </a:xfrm>
          <a:prstGeom prst="rect">
            <a:avLst/>
          </a:prstGeom>
          <a:noFill/>
        </p:spPr>
        <p:txBody>
          <a:bodyPr wrap="square" lIns="0" tIns="0" rIns="0" bIns="0" anchor="t">
            <a:spAutoFit/>
          </a:bodyPr>
          <a:lstStyle/>
          <a:p>
            <a:pPr algn="l"/>
            <a:r>
              <a:rPr sz="1200" b="0" i="0">
                <a:latin typeface="Calibri"/>
              </a:rPr>
              <a:t>Lexical + semantic search over 578 catalog entries</a:t>
            </a:r>
          </a:p>
        </p:txBody>
      </p:sp>
      <p:sp>
        <p:nvSpPr>
          <p:cNvPr id="32" name="Rounded Rectangle 31"/>
          <p:cNvSpPr/>
          <p:nvPr/>
        </p:nvSpPr>
        <p:spPr>
          <a:xfrm>
            <a:off x="5158587" y="3429000"/>
            <a:ext cx="1874519" cy="1298448"/>
          </a:xfrm>
          <a:prstGeom prst="roundRect">
            <a:avLst>
              <a:gd name="adj" fmla="val 5633"/>
            </a:avLst>
          </a:prstGeom>
          <a:solidFill>
            <a:srgbClr val="F4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5295747" y="3566160"/>
            <a:ext cx="329184" cy="32918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8</a:t>
            </a:r>
          </a:p>
        </p:txBody>
      </p:sp>
      <p:sp>
        <p:nvSpPr>
          <p:cNvPr id="34" name="TextBox 33"/>
          <p:cNvSpPr txBox="1"/>
          <p:nvPr/>
        </p:nvSpPr>
        <p:spPr>
          <a:xfrm>
            <a:off x="5707227" y="3566160"/>
            <a:ext cx="1234439" cy="329184"/>
          </a:xfrm>
          <a:prstGeom prst="rect">
            <a:avLst/>
          </a:prstGeom>
          <a:noFill/>
        </p:spPr>
        <p:txBody>
          <a:bodyPr wrap="square" lIns="0" tIns="0" rIns="0" bIns="0" anchor="ctr">
            <a:spAutoFit/>
          </a:bodyPr>
          <a:lstStyle/>
          <a:p>
            <a:pPr algn="l"/>
            <a:r>
              <a:rPr sz="1300" b="1" i="0">
                <a:solidFill>
                  <a:srgbClr val="14142B"/>
                </a:solidFill>
                <a:latin typeface="Calibri"/>
              </a:rPr>
              <a:t>Rerank + Validate</a:t>
            </a:r>
          </a:p>
        </p:txBody>
      </p:sp>
      <p:sp>
        <p:nvSpPr>
          <p:cNvPr id="35" name="TextBox 34"/>
          <p:cNvSpPr txBox="1"/>
          <p:nvPr/>
        </p:nvSpPr>
        <p:spPr>
          <a:xfrm>
            <a:off x="5295747" y="3995928"/>
            <a:ext cx="1600199" cy="685800"/>
          </a:xfrm>
          <a:prstGeom prst="rect">
            <a:avLst/>
          </a:prstGeom>
          <a:noFill/>
        </p:spPr>
        <p:txBody>
          <a:bodyPr wrap="square" lIns="0" tIns="0" rIns="0" bIns="0" anchor="t">
            <a:spAutoFit/>
          </a:bodyPr>
          <a:lstStyle/>
          <a:p>
            <a:pPr algn="l"/>
            <a:r>
              <a:rPr sz="1200" b="0" i="0">
                <a:latin typeface="Calibri"/>
              </a:rPr>
              <a:t>Exact catalog URI; no invented deeplinks</a:t>
            </a:r>
          </a:p>
        </p:txBody>
      </p:sp>
      <p:sp>
        <p:nvSpPr>
          <p:cNvPr id="36" name="Rounded Rectangle 35"/>
          <p:cNvSpPr/>
          <p:nvPr/>
        </p:nvSpPr>
        <p:spPr>
          <a:xfrm>
            <a:off x="7463561" y="3429000"/>
            <a:ext cx="1874519" cy="1298448"/>
          </a:xfrm>
          <a:prstGeom prst="roundRect">
            <a:avLst>
              <a:gd name="adj" fmla="val 5633"/>
            </a:avLst>
          </a:prstGeom>
          <a:solidFill>
            <a:srgbClr val="F4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7600721" y="3566160"/>
            <a:ext cx="329184" cy="32918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9</a:t>
            </a:r>
          </a:p>
        </p:txBody>
      </p:sp>
      <p:sp>
        <p:nvSpPr>
          <p:cNvPr id="38" name="TextBox 37"/>
          <p:cNvSpPr txBox="1"/>
          <p:nvPr/>
        </p:nvSpPr>
        <p:spPr>
          <a:xfrm>
            <a:off x="8012201" y="3566160"/>
            <a:ext cx="1234439" cy="329184"/>
          </a:xfrm>
          <a:prstGeom prst="rect">
            <a:avLst/>
          </a:prstGeom>
          <a:noFill/>
        </p:spPr>
        <p:txBody>
          <a:bodyPr wrap="square" lIns="0" tIns="0" rIns="0" bIns="0" anchor="ctr">
            <a:spAutoFit/>
          </a:bodyPr>
          <a:lstStyle/>
          <a:p>
            <a:pPr algn="l"/>
            <a:r>
              <a:rPr sz="1300" b="1" i="0">
                <a:solidFill>
                  <a:srgbClr val="14142B"/>
                </a:solidFill>
                <a:latin typeface="Calibri"/>
              </a:rPr>
              <a:t>Order + Validate</a:t>
            </a:r>
          </a:p>
        </p:txBody>
      </p:sp>
      <p:sp>
        <p:nvSpPr>
          <p:cNvPr id="39" name="TextBox 38"/>
          <p:cNvSpPr txBox="1"/>
          <p:nvPr/>
        </p:nvSpPr>
        <p:spPr>
          <a:xfrm>
            <a:off x="7600721" y="3995928"/>
            <a:ext cx="1600199" cy="685800"/>
          </a:xfrm>
          <a:prstGeom prst="rect">
            <a:avLst/>
          </a:prstGeom>
          <a:noFill/>
        </p:spPr>
        <p:txBody>
          <a:bodyPr wrap="square" lIns="0" tIns="0" rIns="0" bIns="0" anchor="t">
            <a:spAutoFit/>
          </a:bodyPr>
          <a:lstStyle/>
          <a:p>
            <a:pPr algn="l"/>
            <a:r>
              <a:rPr sz="1200" b="0" i="0">
                <a:solidFill>
                  <a:srgbClr val="555570"/>
                </a:solidFill>
                <a:latin typeface="Calibri"/>
              </a:rPr>
              <a:t>auto, manual, critical; schema check</a:t>
            </a:r>
          </a:p>
        </p:txBody>
      </p:sp>
      <p:sp>
        <p:nvSpPr>
          <p:cNvPr id="40" name="Rounded Rectangle 39"/>
          <p:cNvSpPr/>
          <p:nvPr/>
        </p:nvSpPr>
        <p:spPr>
          <a:xfrm>
            <a:off x="9768535" y="3429000"/>
            <a:ext cx="1874519" cy="1298448"/>
          </a:xfrm>
          <a:prstGeom prst="roundRect">
            <a:avLst>
              <a:gd name="adj" fmla="val 5633"/>
            </a:avLst>
          </a:prstGeom>
          <a:solidFill>
            <a:srgbClr val="F4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9905695" y="3566160"/>
            <a:ext cx="329184" cy="32918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10</a:t>
            </a:r>
          </a:p>
        </p:txBody>
      </p:sp>
      <p:sp>
        <p:nvSpPr>
          <p:cNvPr id="42" name="TextBox 41"/>
          <p:cNvSpPr txBox="1"/>
          <p:nvPr/>
        </p:nvSpPr>
        <p:spPr>
          <a:xfrm>
            <a:off x="10317175" y="3566160"/>
            <a:ext cx="1234439" cy="329184"/>
          </a:xfrm>
          <a:prstGeom prst="rect">
            <a:avLst/>
          </a:prstGeom>
          <a:noFill/>
        </p:spPr>
        <p:txBody>
          <a:bodyPr wrap="square" lIns="0" tIns="0" rIns="0" bIns="0" anchor="ctr">
            <a:spAutoFit/>
          </a:bodyPr>
          <a:lstStyle/>
          <a:p>
            <a:pPr algn="l"/>
            <a:r>
              <a:rPr sz="1300" b="1" i="0">
                <a:solidFill>
                  <a:srgbClr val="14142B"/>
                </a:solidFill>
                <a:latin typeface="Calibri"/>
              </a:rPr>
              <a:t>Semantic Cache</a:t>
            </a:r>
          </a:p>
        </p:txBody>
      </p:sp>
      <p:sp>
        <p:nvSpPr>
          <p:cNvPr id="43" name="TextBox 42"/>
          <p:cNvSpPr txBox="1"/>
          <p:nvPr/>
        </p:nvSpPr>
        <p:spPr>
          <a:xfrm>
            <a:off x="9905695" y="3995928"/>
            <a:ext cx="1600199" cy="685800"/>
          </a:xfrm>
          <a:prstGeom prst="rect">
            <a:avLst/>
          </a:prstGeom>
          <a:noFill/>
        </p:spPr>
        <p:txBody>
          <a:bodyPr wrap="square" lIns="0" tIns="0" rIns="0" bIns="0" anchor="t">
            <a:spAutoFit/>
          </a:bodyPr>
          <a:lstStyle/>
          <a:p>
            <a:pPr algn="l"/>
            <a:r>
              <a:rPr sz="1200" b="0" i="0">
                <a:latin typeface="Calibri"/>
              </a:rPr>
              <a:t>Versioned exact + semantic cache; measured sub-300 ms</a:t>
            </a:r>
          </a:p>
        </p:txBody>
      </p:sp>
      <p:cxnSp>
        <p:nvCxnSpPr>
          <p:cNvPr id="44" name="Connector 43"/>
          <p:cNvCxnSpPr/>
          <p:nvPr/>
        </p:nvCxnSpPr>
        <p:spPr>
          <a:xfrm>
            <a:off x="2450591" y="1929384"/>
            <a:ext cx="375590" cy="0"/>
          </a:xfrm>
          <a:prstGeom prst="line">
            <a:avLst/>
          </a:prstGeom>
          <a:ln w="22225">
            <a:solidFill>
              <a:srgbClr val="6D28D9"/>
            </a:solidFill>
            <a:tailEnd type="triangle"/>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4755565" y="1929384"/>
            <a:ext cx="375590" cy="0"/>
          </a:xfrm>
          <a:prstGeom prst="line">
            <a:avLst/>
          </a:prstGeom>
          <a:ln w="22225">
            <a:solidFill>
              <a:srgbClr val="6D28D9"/>
            </a:solidFill>
            <a:tailEnd type="triangle"/>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7060539" y="1929384"/>
            <a:ext cx="375590" cy="0"/>
          </a:xfrm>
          <a:prstGeom prst="line">
            <a:avLst/>
          </a:prstGeom>
          <a:ln w="22225">
            <a:solidFill>
              <a:srgbClr val="6D28D9"/>
            </a:solidFill>
            <a:tailEnd type="triangle"/>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9365513" y="1929384"/>
            <a:ext cx="375590" cy="0"/>
          </a:xfrm>
          <a:prstGeom prst="line">
            <a:avLst/>
          </a:prstGeom>
          <a:ln w="22225">
            <a:solidFill>
              <a:srgbClr val="6D28D9"/>
            </a:solidFill>
            <a:tailEnd type="triangle"/>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2450591" y="4078224"/>
            <a:ext cx="375590" cy="0"/>
          </a:xfrm>
          <a:prstGeom prst="line">
            <a:avLst/>
          </a:prstGeom>
          <a:ln w="22225">
            <a:solidFill>
              <a:srgbClr val="6D28D9"/>
            </a:solidFill>
            <a:tailEnd type="triangle"/>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4755565" y="4078224"/>
            <a:ext cx="375590" cy="0"/>
          </a:xfrm>
          <a:prstGeom prst="line">
            <a:avLst/>
          </a:prstGeom>
          <a:ln w="22225">
            <a:solidFill>
              <a:srgbClr val="6D28D9"/>
            </a:solidFill>
            <a:tailEnd type="triangle"/>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7060539" y="4078224"/>
            <a:ext cx="375590" cy="0"/>
          </a:xfrm>
          <a:prstGeom prst="line">
            <a:avLst/>
          </a:prstGeom>
          <a:ln w="22225">
            <a:solidFill>
              <a:srgbClr val="6D28D9"/>
            </a:solidFill>
            <a:tailEnd type="triangle"/>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9365513" y="4078224"/>
            <a:ext cx="375590" cy="0"/>
          </a:xfrm>
          <a:prstGeom prst="line">
            <a:avLst/>
          </a:prstGeom>
          <a:ln w="22225">
            <a:solidFill>
              <a:srgbClr val="6D28D9"/>
            </a:solidFill>
            <a:tailEnd type="triangle"/>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705795" y="2578608"/>
            <a:ext cx="0" cy="425196"/>
          </a:xfrm>
          <a:prstGeom prst="line">
            <a:avLst/>
          </a:prstGeom>
          <a:ln w="22225">
            <a:solidFill>
              <a:srgbClr val="6D28D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1485900" y="3003804"/>
            <a:ext cx="9219895" cy="0"/>
          </a:xfrm>
          <a:prstGeom prst="line">
            <a:avLst/>
          </a:prstGeom>
          <a:ln w="22225">
            <a:solidFill>
              <a:srgbClr val="6D28D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485900" y="3003804"/>
            <a:ext cx="0" cy="406908"/>
          </a:xfrm>
          <a:prstGeom prst="line">
            <a:avLst/>
          </a:prstGeom>
          <a:ln w="22225">
            <a:solidFill>
              <a:srgbClr val="6D28D9"/>
            </a:solidFill>
            <a:tailEnd type="triangle"/>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2788920" y="2692908"/>
            <a:ext cx="8488375" cy="256032"/>
          </a:xfrm>
          <a:prstGeom prst="rect">
            <a:avLst/>
          </a:prstGeom>
          <a:noFill/>
        </p:spPr>
        <p:txBody>
          <a:bodyPr wrap="square" lIns="0" tIns="0" rIns="0" bIns="0" anchor="t">
            <a:spAutoFit/>
          </a:bodyPr>
          <a:lstStyle/>
          <a:p>
            <a:pPr algn="ctr"/>
            <a:r>
              <a:rPr sz="1200" b="0" i="1">
                <a:latin typeface="Calibri"/>
              </a:rPr>
              <a:t>If Gemini fails or output is ungroundable: deterministic SIIS fallback → re-check → fail safely</a:t>
            </a:r>
          </a:p>
        </p:txBody>
      </p:sp>
      <p:sp>
        <p:nvSpPr>
          <p:cNvPr id="56" name="Rounded Rectangle 55"/>
          <p:cNvSpPr/>
          <p:nvPr/>
        </p:nvSpPr>
        <p:spPr>
          <a:xfrm>
            <a:off x="548640" y="5120640"/>
            <a:ext cx="11094415" cy="868680"/>
          </a:xfrm>
          <a:prstGeom prst="roundRect">
            <a:avLst>
              <a:gd name="adj" fmla="val 8421"/>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822959" y="5120640"/>
            <a:ext cx="10545775" cy="868680"/>
          </a:xfrm>
          <a:prstGeom prst="rect">
            <a:avLst/>
          </a:prstGeom>
          <a:noFill/>
        </p:spPr>
        <p:txBody>
          <a:bodyPr wrap="square" lIns="0" tIns="0" rIns="0" bIns="0" anchor="ctr">
            <a:spAutoFit/>
          </a:bodyPr>
          <a:lstStyle/>
          <a:p>
            <a:pPr algn="ctr"/>
            <a:r>
              <a:rPr sz="2000" b="1" i="0">
                <a:solidFill>
                  <a:srgbClr val="E6DDF8"/>
                </a:solidFill>
                <a:latin typeface="Calibri"/>
              </a:rPr>
              <a:t>Core invariant:  </a:t>
            </a:r>
            <a:r>
              <a:rPr sz="2000" b="1" i="0">
                <a:solidFill>
                  <a:srgbClr val="FFFFFF"/>
                </a:solidFill>
                <a:latin typeface="Calibri"/>
              </a:rPr>
              <a:t>NO SIIS EVIDENCE  →  NO NEW FACT  →  NO GENERATED STEP</a:t>
            </a:r>
          </a:p>
        </p:txBody>
      </p:sp>
      <p:sp>
        <p:nvSpPr>
          <p:cNvPr id="58" name="TextBox 57"/>
          <p:cNvSpPr txBox="1"/>
          <p:nvPr/>
        </p:nvSpPr>
        <p:spPr>
          <a:xfrm>
            <a:off x="548640" y="6172200"/>
            <a:ext cx="11094415" cy="274320"/>
          </a:xfrm>
          <a:prstGeom prst="rect">
            <a:avLst/>
          </a:prstGeom>
          <a:noFill/>
        </p:spPr>
        <p:txBody>
          <a:bodyPr wrap="square" lIns="0" tIns="0" rIns="0" bIns="0" anchor="t">
            <a:spAutoFit/>
          </a:bodyPr>
          <a:lstStyle/>
          <a:p>
            <a:pPr algn="l"/>
            <a:r>
              <a:rPr sz="1200" b="0" i="0">
                <a:latin typeface="Calibri"/>
              </a:rPr>
              <a:t>NBE/EIG is implemented as a deterministic evidence-ranking subsystem; adaptive evidence acquisition can be extended in the product flow.</a:t>
            </a:r>
          </a:p>
        </p:txBody>
      </p:sp>
    </p:spTree>
    <p:extLst>
      <p:ext uri="{BB962C8B-B14F-4D97-AF65-F5344CB8AC3E}">
        <p14:creationId xmlns:p14="http://schemas.microsoft.com/office/powerpoint/2010/main" val="257978907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457200" y="320040"/>
            <a:ext cx="11277295" cy="685800"/>
          </a:xfrm>
        </p:spPr>
        <p:txBody>
          <a:bodyPr anchor="ctr"/>
          <a:lstStyle/>
          <a:p>
            <a:r>
              <a:rPr lang="en-IN" sz="3000" b="1" dirty="0">
                <a:solidFill>
                  <a:srgbClr val="704EA6"/>
                </a:solidFill>
                <a:latin typeface="+mn-lt"/>
              </a:rPr>
              <a:t>Demo &amp; Product Walkthrough</a:t>
            </a:r>
          </a:p>
        </p:txBody>
      </p:sp>
      <p:sp>
        <p:nvSpPr>
          <p:cNvPr id="3" name="Rounded Rectangle 2"/>
          <p:cNvSpPr/>
          <p:nvPr/>
        </p:nvSpPr>
        <p:spPr>
          <a:xfrm>
            <a:off x="548640" y="1280160"/>
            <a:ext cx="5212080" cy="1005840"/>
          </a:xfrm>
          <a:prstGeom prst="roundRect">
            <a:avLst>
              <a:gd name="adj" fmla="val 7272"/>
            </a:avLst>
          </a:prstGeom>
          <a:solidFill>
            <a:srgbClr val="F4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49808" y="1536192"/>
            <a:ext cx="502920" cy="50292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1</a:t>
            </a:r>
          </a:p>
        </p:txBody>
      </p:sp>
      <p:sp>
        <p:nvSpPr>
          <p:cNvPr id="5" name="TextBox 4"/>
          <p:cNvSpPr txBox="1"/>
          <p:nvPr/>
        </p:nvSpPr>
        <p:spPr>
          <a:xfrm>
            <a:off x="1463040" y="1463039"/>
            <a:ext cx="4114800" cy="365760"/>
          </a:xfrm>
          <a:prstGeom prst="rect">
            <a:avLst/>
          </a:prstGeom>
          <a:noFill/>
        </p:spPr>
        <p:txBody>
          <a:bodyPr wrap="square" lIns="0" tIns="0" rIns="0" bIns="0" anchor="t">
            <a:spAutoFit/>
          </a:bodyPr>
          <a:lstStyle/>
          <a:p>
            <a:pPr algn="l"/>
            <a:r>
              <a:rPr sz="1600" b="1" i="0">
                <a:solidFill>
                  <a:srgbClr val="14142B"/>
                </a:solidFill>
                <a:latin typeface="Calibri"/>
              </a:rPr>
              <a:t>User types a vague complaint</a:t>
            </a:r>
          </a:p>
        </p:txBody>
      </p:sp>
      <p:sp>
        <p:nvSpPr>
          <p:cNvPr id="6" name="TextBox 5"/>
          <p:cNvSpPr txBox="1"/>
          <p:nvPr/>
        </p:nvSpPr>
        <p:spPr>
          <a:xfrm>
            <a:off x="1463040" y="1828800"/>
            <a:ext cx="4114800" cy="365760"/>
          </a:xfrm>
          <a:prstGeom prst="rect">
            <a:avLst/>
          </a:prstGeom>
          <a:noFill/>
        </p:spPr>
        <p:txBody>
          <a:bodyPr wrap="square" lIns="0" tIns="0" rIns="0" bIns="0" anchor="t">
            <a:spAutoFit/>
          </a:bodyPr>
          <a:lstStyle/>
          <a:p>
            <a:pPr algn="l"/>
            <a:r>
              <a:rPr sz="1300" b="0" i="0">
                <a:solidFill>
                  <a:srgbClr val="555570"/>
                </a:solidFill>
                <a:latin typeface="Calibri"/>
              </a:rPr>
              <a:t>In the web demo or through the REST API</a:t>
            </a:r>
          </a:p>
        </p:txBody>
      </p:sp>
      <p:cxnSp>
        <p:nvCxnSpPr>
          <p:cNvPr id="7" name="Connector 6"/>
          <p:cNvCxnSpPr/>
          <p:nvPr/>
        </p:nvCxnSpPr>
        <p:spPr>
          <a:xfrm>
            <a:off x="1005840" y="2295144"/>
            <a:ext cx="0" cy="164592"/>
          </a:xfrm>
          <a:prstGeom prst="line">
            <a:avLst/>
          </a:prstGeom>
          <a:ln w="22225">
            <a:solidFill>
              <a:srgbClr val="6D28D9"/>
            </a:solidFill>
            <a:tailEnd type="triangle"/>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48640" y="2468880"/>
            <a:ext cx="5212080" cy="1005840"/>
          </a:xfrm>
          <a:prstGeom prst="roundRect">
            <a:avLst>
              <a:gd name="adj" fmla="val 7272"/>
            </a:avLst>
          </a:prstGeom>
          <a:solidFill>
            <a:srgbClr val="F4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749808" y="2724912"/>
            <a:ext cx="502920" cy="50292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2</a:t>
            </a:r>
          </a:p>
        </p:txBody>
      </p:sp>
      <p:sp>
        <p:nvSpPr>
          <p:cNvPr id="10" name="TextBox 9"/>
          <p:cNvSpPr txBox="1"/>
          <p:nvPr/>
        </p:nvSpPr>
        <p:spPr>
          <a:xfrm>
            <a:off x="1463040" y="2651760"/>
            <a:ext cx="4114800" cy="365760"/>
          </a:xfrm>
          <a:prstGeom prst="rect">
            <a:avLst/>
          </a:prstGeom>
          <a:noFill/>
        </p:spPr>
        <p:txBody>
          <a:bodyPr wrap="square" lIns="0" tIns="0" rIns="0" bIns="0" anchor="t">
            <a:spAutoFit/>
          </a:bodyPr>
          <a:lstStyle/>
          <a:p>
            <a:pPr algn="l"/>
            <a:r>
              <a:rPr sz="1600" b="1" i="0">
                <a:solidFill>
                  <a:srgbClr val="14142B"/>
                </a:solidFill>
                <a:latin typeface="Calibri"/>
              </a:rPr>
              <a:t>Stage 1 enriches it</a:t>
            </a:r>
          </a:p>
        </p:txBody>
      </p:sp>
      <p:sp>
        <p:nvSpPr>
          <p:cNvPr id="11" name="TextBox 10"/>
          <p:cNvSpPr txBox="1"/>
          <p:nvPr/>
        </p:nvSpPr>
        <p:spPr>
          <a:xfrm>
            <a:off x="1463040" y="3017520"/>
            <a:ext cx="4114800" cy="365760"/>
          </a:xfrm>
          <a:prstGeom prst="rect">
            <a:avLst/>
          </a:prstGeom>
          <a:noFill/>
        </p:spPr>
        <p:txBody>
          <a:bodyPr wrap="square" lIns="0" tIns="0" rIns="0" bIns="0" anchor="t">
            <a:spAutoFit/>
          </a:bodyPr>
          <a:lstStyle/>
          <a:p>
            <a:pPr algn="l"/>
            <a:r>
              <a:rPr sz="1300" b="0" i="0">
                <a:latin typeface="Calibri"/>
              </a:rPr>
              <a:t>Symptom, domain, polarity, entities, requested action</a:t>
            </a:r>
          </a:p>
        </p:txBody>
      </p:sp>
      <p:cxnSp>
        <p:nvCxnSpPr>
          <p:cNvPr id="12" name="Connector 11"/>
          <p:cNvCxnSpPr/>
          <p:nvPr/>
        </p:nvCxnSpPr>
        <p:spPr>
          <a:xfrm>
            <a:off x="1005840" y="3483864"/>
            <a:ext cx="0" cy="164592"/>
          </a:xfrm>
          <a:prstGeom prst="line">
            <a:avLst/>
          </a:prstGeom>
          <a:ln w="22225">
            <a:solidFill>
              <a:srgbClr val="6D28D9"/>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48640" y="3657600"/>
            <a:ext cx="5212080" cy="1005840"/>
          </a:xfrm>
          <a:prstGeom prst="roundRect">
            <a:avLst>
              <a:gd name="adj" fmla="val 7272"/>
            </a:avLst>
          </a:prstGeom>
          <a:solidFill>
            <a:srgbClr val="F4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49808" y="3913632"/>
            <a:ext cx="502920" cy="50292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3</a:t>
            </a:r>
          </a:p>
        </p:txBody>
      </p:sp>
      <p:sp>
        <p:nvSpPr>
          <p:cNvPr id="15" name="TextBox 14"/>
          <p:cNvSpPr txBox="1"/>
          <p:nvPr/>
        </p:nvSpPr>
        <p:spPr>
          <a:xfrm>
            <a:off x="1463040" y="3840480"/>
            <a:ext cx="4114800" cy="365760"/>
          </a:xfrm>
          <a:prstGeom prst="rect">
            <a:avLst/>
          </a:prstGeom>
          <a:noFill/>
        </p:spPr>
        <p:txBody>
          <a:bodyPr wrap="square" lIns="0" tIns="0" rIns="0" bIns="0" anchor="t">
            <a:spAutoFit/>
          </a:bodyPr>
          <a:lstStyle/>
          <a:p>
            <a:pPr algn="l"/>
            <a:r>
              <a:rPr sz="1600" b="1" i="0">
                <a:solidFill>
                  <a:srgbClr val="14142B"/>
                </a:solidFill>
                <a:latin typeface="Calibri"/>
              </a:rPr>
              <a:t>Evidence is verified</a:t>
            </a:r>
          </a:p>
        </p:txBody>
      </p:sp>
      <p:sp>
        <p:nvSpPr>
          <p:cNvPr id="16" name="TextBox 15"/>
          <p:cNvSpPr txBox="1"/>
          <p:nvPr/>
        </p:nvSpPr>
        <p:spPr>
          <a:xfrm>
            <a:off x="1463040" y="4206240"/>
            <a:ext cx="4114800" cy="365760"/>
          </a:xfrm>
          <a:prstGeom prst="rect">
            <a:avLst/>
          </a:prstGeom>
          <a:noFill/>
        </p:spPr>
        <p:txBody>
          <a:bodyPr wrap="square" lIns="0" tIns="0" rIns="0" bIns="0" anchor="t">
            <a:spAutoFit/>
          </a:bodyPr>
          <a:lstStyle/>
          <a:p>
            <a:pPr algn="l"/>
            <a:r>
              <a:rPr sz="1300" b="0" i="0">
                <a:latin typeface="Calibri"/>
              </a:rPr>
              <a:t>Only SIIS-supported steps survive the grounding checker</a:t>
            </a:r>
          </a:p>
        </p:txBody>
      </p:sp>
      <p:cxnSp>
        <p:nvCxnSpPr>
          <p:cNvPr id="17" name="Connector 16"/>
          <p:cNvCxnSpPr/>
          <p:nvPr/>
        </p:nvCxnSpPr>
        <p:spPr>
          <a:xfrm>
            <a:off x="1005840" y="4672583"/>
            <a:ext cx="0" cy="164593"/>
          </a:xfrm>
          <a:prstGeom prst="line">
            <a:avLst/>
          </a:prstGeom>
          <a:ln w="22225">
            <a:solidFill>
              <a:srgbClr val="6D28D9"/>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48640" y="4846320"/>
            <a:ext cx="5212080" cy="1005840"/>
          </a:xfrm>
          <a:prstGeom prst="roundRect">
            <a:avLst>
              <a:gd name="adj" fmla="val 7272"/>
            </a:avLst>
          </a:prstGeom>
          <a:solidFill>
            <a:srgbClr val="F4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749808" y="5102352"/>
            <a:ext cx="502920" cy="50292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4</a:t>
            </a:r>
          </a:p>
        </p:txBody>
      </p:sp>
      <p:sp>
        <p:nvSpPr>
          <p:cNvPr id="20" name="TextBox 19"/>
          <p:cNvSpPr txBox="1"/>
          <p:nvPr/>
        </p:nvSpPr>
        <p:spPr>
          <a:xfrm>
            <a:off x="1463040" y="5029200"/>
            <a:ext cx="4114800" cy="365760"/>
          </a:xfrm>
          <a:prstGeom prst="rect">
            <a:avLst/>
          </a:prstGeom>
          <a:noFill/>
        </p:spPr>
        <p:txBody>
          <a:bodyPr wrap="square" lIns="0" tIns="0" rIns="0" bIns="0" anchor="t">
            <a:spAutoFit/>
          </a:bodyPr>
          <a:lstStyle/>
          <a:p>
            <a:pPr algn="l"/>
            <a:r>
              <a:rPr sz="1600" b="1" i="0">
                <a:solidFill>
                  <a:srgbClr val="14142B"/>
                </a:solidFill>
                <a:latin typeface="Calibri"/>
              </a:rPr>
              <a:t>Each step becomes executable</a:t>
            </a:r>
          </a:p>
        </p:txBody>
      </p:sp>
      <p:sp>
        <p:nvSpPr>
          <p:cNvPr id="21" name="TextBox 20"/>
          <p:cNvSpPr txBox="1"/>
          <p:nvPr/>
        </p:nvSpPr>
        <p:spPr>
          <a:xfrm>
            <a:off x="1463040" y="5394960"/>
            <a:ext cx="4114800" cy="365760"/>
          </a:xfrm>
          <a:prstGeom prst="rect">
            <a:avLst/>
          </a:prstGeom>
          <a:noFill/>
        </p:spPr>
        <p:txBody>
          <a:bodyPr wrap="square" lIns="0" tIns="0" rIns="0" bIns="0" anchor="t">
            <a:spAutoFit/>
          </a:bodyPr>
          <a:lstStyle/>
          <a:p>
            <a:pPr algn="l"/>
            <a:r>
              <a:rPr sz="1300" b="0" i="0">
                <a:latin typeface="Calibri"/>
              </a:rPr>
              <a:t>Mapped through the 578-entry catalog to a validated Settings deeplink</a:t>
            </a:r>
          </a:p>
        </p:txBody>
      </p:sp>
      <p:sp>
        <p:nvSpPr>
          <p:cNvPr id="22" name="Rounded Rectangle 21"/>
          <p:cNvSpPr/>
          <p:nvPr/>
        </p:nvSpPr>
        <p:spPr>
          <a:xfrm>
            <a:off x="6126480" y="1280160"/>
            <a:ext cx="5516575" cy="4572000"/>
          </a:xfrm>
          <a:prstGeom prst="roundRect">
            <a:avLst>
              <a:gd name="adj" fmla="val 1600"/>
            </a:avLst>
          </a:prstGeom>
          <a:solidFill>
            <a:srgbClr val="F8F7FC"/>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0" y="1417320"/>
            <a:ext cx="4967935" cy="274320"/>
          </a:xfrm>
          <a:prstGeom prst="rect">
            <a:avLst/>
          </a:prstGeom>
          <a:noFill/>
        </p:spPr>
        <p:txBody>
          <a:bodyPr wrap="square" lIns="0" tIns="0" rIns="0" bIns="0" anchor="t">
            <a:spAutoFit/>
          </a:bodyPr>
          <a:lstStyle/>
          <a:p>
            <a:pPr algn="l"/>
            <a:r>
              <a:rPr sz="1100" b="1" i="0">
                <a:latin typeface="Calibri"/>
              </a:rPr>
              <a:t>RESPONSE SHAPE   representative output</a:t>
            </a:r>
          </a:p>
        </p:txBody>
      </p:sp>
      <p:sp>
        <p:nvSpPr>
          <p:cNvPr id="24" name="TextBox 23"/>
          <p:cNvSpPr txBox="1"/>
          <p:nvPr/>
        </p:nvSpPr>
        <p:spPr>
          <a:xfrm>
            <a:off x="6400800" y="1783080"/>
            <a:ext cx="5059375" cy="3474720"/>
          </a:xfrm>
          <a:prstGeom prst="rect">
            <a:avLst/>
          </a:prstGeom>
          <a:noFill/>
        </p:spPr>
        <p:txBody>
          <a:bodyPr wrap="square" lIns="0" tIns="0" rIns="0" bIns="0" anchor="t">
            <a:spAutoFit/>
          </a:bodyPr>
          <a:lstStyle/>
          <a:p>
            <a:pPr algn="l">
              <a:spcAft>
                <a:spcPts val="200"/>
              </a:spcAft>
            </a:pPr>
            <a:r>
              <a:rPr sz="1100" b="0" i="0">
                <a:latin typeface="Courier New"/>
              </a:rPr>
              <a:t>{</a:t>
            </a:r>
          </a:p>
          <a:p>
            <a:r>
              <a:rPr sz="1100" b="0" i="0">
                <a:latin typeface="Courier New"/>
              </a:rPr>
              <a:t>  "goal": {</a:t>
            </a:r>
          </a:p>
          <a:p>
            <a:r>
              <a:rPr sz="1100" b="0" i="0">
                <a:latin typeface="Courier New"/>
              </a:rPr>
              <a:t>    "title": "Brightness Troubleshooting",</a:t>
            </a:r>
          </a:p>
          <a:p>
            <a:r>
              <a:rPr sz="1100" b="0" i="0">
                <a:latin typeface="Courier New"/>
              </a:rPr>
              <a:t>    "score": 0.92</a:t>
            </a:r>
          </a:p>
          <a:p>
            <a:r>
              <a:rPr sz="1100" b="0" i="0">
                <a:latin typeface="Courier New"/>
              </a:rPr>
              <a:t>  },</a:t>
            </a:r>
          </a:p>
          <a:p>
            <a:r>
              <a:rPr sz="1100" b="0" i="0">
                <a:latin typeface="Courier New"/>
              </a:rPr>
              <a:t>  "actions": [{</a:t>
            </a:r>
          </a:p>
          <a:p>
            <a:r>
              <a:rPr sz="1100" b="0" i="0">
                <a:latin typeface="Courier New"/>
              </a:rPr>
              <a:t>    "description": "It will turn off Adaptive brightness",</a:t>
            </a:r>
          </a:p>
          <a:p>
            <a:r>
              <a:rPr sz="1100" b="0" i="0">
                <a:latin typeface="Courier New"/>
              </a:rPr>
              <a:t>    "category": "auto",</a:t>
            </a:r>
          </a:p>
          <a:p>
            <a:r>
              <a:rPr sz="1100" b="0" i="0">
                <a:latin typeface="Courier New"/>
              </a:rPr>
              <a:t>    "deeplink": "catalog URI"</a:t>
            </a:r>
          </a:p>
          <a:p>
            <a:r>
              <a:rPr sz="1100" b="0" i="0">
                <a:latin typeface="Courier New"/>
              </a:rPr>
              <a:t>  }]</a:t>
            </a:r>
          </a:p>
          <a:p>
            <a:r>
              <a:rPr sz="1100" b="0" i="0">
                <a:latin typeface="Courier New"/>
              </a:rPr>
              <a:t>}</a:t>
            </a:r>
          </a:p>
        </p:txBody>
      </p:sp>
      <p:sp>
        <p:nvSpPr>
          <p:cNvPr id="25" name="TextBox 24"/>
          <p:cNvSpPr txBox="1"/>
          <p:nvPr/>
        </p:nvSpPr>
        <p:spPr>
          <a:xfrm>
            <a:off x="6400800" y="5349240"/>
            <a:ext cx="4967935" cy="411480"/>
          </a:xfrm>
          <a:prstGeom prst="rect">
            <a:avLst/>
          </a:prstGeom>
          <a:noFill/>
        </p:spPr>
        <p:txBody>
          <a:bodyPr wrap="square" lIns="0" tIns="0" rIns="0" bIns="0" anchor="t">
            <a:spAutoFit/>
          </a:bodyPr>
          <a:lstStyle/>
          <a:p>
            <a:pPr algn="l"/>
            <a:r>
              <a:rPr sz="1200" b="0" i="1">
                <a:latin typeface="Calibri"/>
              </a:rPr>
              <a:t>Goal title: 2–3 words. Action description: 5–7 words, starts with “It will”. Order: auto → manual → critical.</a:t>
            </a:r>
          </a:p>
        </p:txBody>
      </p:sp>
      <p:sp>
        <p:nvSpPr>
          <p:cNvPr id="26" name="TextBox 25"/>
          <p:cNvSpPr txBox="1"/>
          <p:nvPr/>
        </p:nvSpPr>
        <p:spPr>
          <a:xfrm>
            <a:off x="548640" y="6172200"/>
            <a:ext cx="11094415" cy="274320"/>
          </a:xfrm>
          <a:prstGeom prst="rect">
            <a:avLst/>
          </a:prstGeom>
          <a:noFill/>
        </p:spPr>
        <p:txBody>
          <a:bodyPr wrap="square" lIns="0" tIns="0" rIns="0" bIns="0" anchor="t">
            <a:spAutoFit/>
          </a:bodyPr>
          <a:lstStyle/>
          <a:p>
            <a:pPr algn="l"/>
            <a:r>
              <a:rPr sz="1200" b="1" i="0">
                <a:latin typeface="Calibri"/>
              </a:rPr>
              <a:t>Endpoint: POST /v1/troubleshoot  |  Representative output</a:t>
            </a:r>
          </a:p>
        </p:txBody>
      </p:sp>
    </p:spTree>
    <p:extLst>
      <p:ext uri="{BB962C8B-B14F-4D97-AF65-F5344CB8AC3E}">
        <p14:creationId xmlns:p14="http://schemas.microsoft.com/office/powerpoint/2010/main" val="117824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457200" y="320040"/>
            <a:ext cx="11277295" cy="685800"/>
          </a:xfrm>
        </p:spPr>
        <p:txBody>
          <a:bodyPr anchor="ctr"/>
          <a:lstStyle/>
          <a:p>
            <a:r>
              <a:rPr lang="en-US" sz="3000" b="1" dirty="0">
                <a:solidFill>
                  <a:srgbClr val="704EA6"/>
                </a:solidFill>
                <a:latin typeface="Calibri" pitchFamily="34" charset="0"/>
                <a:ea typeface="Calibri" pitchFamily="34" charset="-122"/>
                <a:cs typeface="Calibri" pitchFamily="34" charset="-120"/>
              </a:rPr>
              <a:t>Tools and tech stack used</a:t>
            </a:r>
            <a:endParaRPr lang="en-IN" b="1" dirty="0">
              <a:solidFill>
                <a:srgbClr val="704EA6"/>
              </a:solidFill>
            </a:endParaRPr>
          </a:p>
        </p:txBody>
      </p:sp>
      <p:sp>
        <p:nvSpPr>
          <p:cNvPr id="3" name="Rounded Rectangle 2"/>
          <p:cNvSpPr/>
          <p:nvPr/>
        </p:nvSpPr>
        <p:spPr>
          <a:xfrm>
            <a:off x="548640" y="1280160"/>
            <a:ext cx="3515258" cy="2103120"/>
          </a:xfrm>
          <a:prstGeom prst="roundRect">
            <a:avLst>
              <a:gd name="adj" fmla="val 3478"/>
            </a:avLst>
          </a:prstGeom>
          <a:solidFill>
            <a:srgbClr val="F4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49808" y="1481328"/>
            <a:ext cx="411480" cy="41148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1</a:t>
            </a:r>
          </a:p>
        </p:txBody>
      </p:sp>
      <p:sp>
        <p:nvSpPr>
          <p:cNvPr id="5" name="TextBox 4"/>
          <p:cNvSpPr txBox="1"/>
          <p:nvPr/>
        </p:nvSpPr>
        <p:spPr>
          <a:xfrm>
            <a:off x="1325880" y="1481328"/>
            <a:ext cx="2600858" cy="411480"/>
          </a:xfrm>
          <a:prstGeom prst="rect">
            <a:avLst/>
          </a:prstGeom>
          <a:noFill/>
        </p:spPr>
        <p:txBody>
          <a:bodyPr wrap="square" lIns="0" tIns="0" rIns="0" bIns="0" anchor="ctr">
            <a:spAutoFit/>
          </a:bodyPr>
          <a:lstStyle/>
          <a:p>
            <a:pPr algn="l"/>
            <a:r>
              <a:rPr sz="1700" b="1" i="0">
                <a:solidFill>
                  <a:srgbClr val="14142B"/>
                </a:solidFill>
                <a:latin typeface="Calibri"/>
              </a:rPr>
              <a:t>LLM</a:t>
            </a:r>
          </a:p>
        </p:txBody>
      </p:sp>
      <p:sp>
        <p:nvSpPr>
          <p:cNvPr id="6" name="TextBox 5"/>
          <p:cNvSpPr txBox="1"/>
          <p:nvPr/>
        </p:nvSpPr>
        <p:spPr>
          <a:xfrm>
            <a:off x="777240" y="2057400"/>
            <a:ext cx="3058058" cy="1234439"/>
          </a:xfrm>
          <a:prstGeom prst="rect">
            <a:avLst/>
          </a:prstGeom>
          <a:noFill/>
        </p:spPr>
        <p:txBody>
          <a:bodyPr wrap="square" lIns="0" tIns="0" rIns="0" bIns="0" anchor="t">
            <a:spAutoFit/>
          </a:bodyPr>
          <a:lstStyle/>
          <a:p>
            <a:pPr algn="l"/>
            <a:r>
              <a:rPr sz="1500" b="0" i="0">
                <a:latin typeface="Calibri"/>
              </a:rPr>
              <a:t>Google Gemini API used in two stages: query enrichment and SIIS-grounded troubleshooting extraction. Deterministic fallbacks keep the engine functional without Gemini.</a:t>
            </a:r>
          </a:p>
        </p:txBody>
      </p:sp>
      <p:sp>
        <p:nvSpPr>
          <p:cNvPr id="7" name="Rounded Rectangle 6"/>
          <p:cNvSpPr/>
          <p:nvPr/>
        </p:nvSpPr>
        <p:spPr>
          <a:xfrm>
            <a:off x="4338218" y="1280160"/>
            <a:ext cx="3515258" cy="2103120"/>
          </a:xfrm>
          <a:prstGeom prst="roundRect">
            <a:avLst>
              <a:gd name="adj" fmla="val 3478"/>
            </a:avLst>
          </a:prstGeom>
          <a:solidFill>
            <a:srgbClr val="F4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4539386" y="1481328"/>
            <a:ext cx="411480" cy="41148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2</a:t>
            </a:r>
          </a:p>
        </p:txBody>
      </p:sp>
      <p:sp>
        <p:nvSpPr>
          <p:cNvPr id="9" name="TextBox 8"/>
          <p:cNvSpPr txBox="1"/>
          <p:nvPr/>
        </p:nvSpPr>
        <p:spPr>
          <a:xfrm>
            <a:off x="5115458" y="1481328"/>
            <a:ext cx="2600858" cy="411480"/>
          </a:xfrm>
          <a:prstGeom prst="rect">
            <a:avLst/>
          </a:prstGeom>
          <a:noFill/>
        </p:spPr>
        <p:txBody>
          <a:bodyPr wrap="square" lIns="0" tIns="0" rIns="0" bIns="0" anchor="ctr">
            <a:spAutoFit/>
          </a:bodyPr>
          <a:lstStyle/>
          <a:p>
            <a:pPr algn="l"/>
            <a:r>
              <a:rPr sz="1700" b="1" i="0">
                <a:solidFill>
                  <a:srgbClr val="14142B"/>
                </a:solidFill>
                <a:latin typeface="Calibri"/>
              </a:rPr>
              <a:t>Backend and API</a:t>
            </a:r>
          </a:p>
        </p:txBody>
      </p:sp>
      <p:sp>
        <p:nvSpPr>
          <p:cNvPr id="10" name="TextBox 9"/>
          <p:cNvSpPr txBox="1"/>
          <p:nvPr/>
        </p:nvSpPr>
        <p:spPr>
          <a:xfrm>
            <a:off x="4566818" y="2057400"/>
            <a:ext cx="3058058" cy="1234439"/>
          </a:xfrm>
          <a:prstGeom prst="rect">
            <a:avLst/>
          </a:prstGeom>
          <a:noFill/>
        </p:spPr>
        <p:txBody>
          <a:bodyPr wrap="square" lIns="0" tIns="0" rIns="0" bIns="0" anchor="t">
            <a:spAutoFit/>
          </a:bodyPr>
          <a:lstStyle/>
          <a:p>
            <a:pPr algn="l"/>
            <a:r>
              <a:rPr sz="1500" b="0" i="0">
                <a:latin typeface="Calibri"/>
              </a:rPr>
              <a:t>FastAPI backend in Python with POST /v1/troubleshoot and a strict ContextDeeplinkResponse validation firewall.</a:t>
            </a:r>
          </a:p>
        </p:txBody>
      </p:sp>
      <p:sp>
        <p:nvSpPr>
          <p:cNvPr id="11" name="Rounded Rectangle 10"/>
          <p:cNvSpPr/>
          <p:nvPr/>
        </p:nvSpPr>
        <p:spPr>
          <a:xfrm>
            <a:off x="8127796" y="1280160"/>
            <a:ext cx="3515258" cy="2103120"/>
          </a:xfrm>
          <a:prstGeom prst="roundRect">
            <a:avLst>
              <a:gd name="adj" fmla="val 3478"/>
            </a:avLst>
          </a:prstGeom>
          <a:solidFill>
            <a:srgbClr val="F4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328964" y="1481328"/>
            <a:ext cx="411480" cy="41148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3</a:t>
            </a:r>
          </a:p>
        </p:txBody>
      </p:sp>
      <p:sp>
        <p:nvSpPr>
          <p:cNvPr id="13" name="TextBox 12"/>
          <p:cNvSpPr txBox="1"/>
          <p:nvPr/>
        </p:nvSpPr>
        <p:spPr>
          <a:xfrm>
            <a:off x="8905036" y="1481328"/>
            <a:ext cx="2600858" cy="411480"/>
          </a:xfrm>
          <a:prstGeom prst="rect">
            <a:avLst/>
          </a:prstGeom>
          <a:noFill/>
        </p:spPr>
        <p:txBody>
          <a:bodyPr wrap="square" lIns="0" tIns="0" rIns="0" bIns="0" anchor="ctr">
            <a:spAutoFit/>
          </a:bodyPr>
          <a:lstStyle/>
          <a:p>
            <a:pPr algn="l"/>
            <a:r>
              <a:rPr sz="1700" b="1" i="0">
                <a:solidFill>
                  <a:srgbClr val="14142B"/>
                </a:solidFill>
                <a:latin typeface="Calibri"/>
              </a:rPr>
              <a:t>Deeplink retrieval</a:t>
            </a:r>
          </a:p>
        </p:txBody>
      </p:sp>
      <p:sp>
        <p:nvSpPr>
          <p:cNvPr id="14" name="TextBox 13"/>
          <p:cNvSpPr txBox="1"/>
          <p:nvPr/>
        </p:nvSpPr>
        <p:spPr>
          <a:xfrm>
            <a:off x="8356396" y="2057400"/>
            <a:ext cx="3058058" cy="1234439"/>
          </a:xfrm>
          <a:prstGeom prst="rect">
            <a:avLst/>
          </a:prstGeom>
          <a:noFill/>
        </p:spPr>
        <p:txBody>
          <a:bodyPr wrap="square" lIns="0" tIns="0" rIns="0" bIns="0" anchor="t">
            <a:spAutoFit/>
          </a:bodyPr>
          <a:lstStyle/>
          <a:p>
            <a:pPr algn="l"/>
            <a:r>
              <a:rPr sz="1500" b="0" i="0">
                <a:latin typeface="Calibri"/>
              </a:rPr>
              <a:t>Lexical + dense semantic retrieval with reranking over the 578-entry Samsung OneUI deeplink catalog.</a:t>
            </a:r>
          </a:p>
        </p:txBody>
      </p:sp>
      <p:sp>
        <p:nvSpPr>
          <p:cNvPr id="15" name="Rounded Rectangle 14"/>
          <p:cNvSpPr/>
          <p:nvPr/>
        </p:nvSpPr>
        <p:spPr>
          <a:xfrm>
            <a:off x="548640" y="3657599"/>
            <a:ext cx="3515258" cy="2103120"/>
          </a:xfrm>
          <a:prstGeom prst="roundRect">
            <a:avLst>
              <a:gd name="adj" fmla="val 3478"/>
            </a:avLst>
          </a:prstGeom>
          <a:solidFill>
            <a:srgbClr val="F4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49808" y="3858768"/>
            <a:ext cx="411480" cy="41148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4</a:t>
            </a:r>
          </a:p>
        </p:txBody>
      </p:sp>
      <p:sp>
        <p:nvSpPr>
          <p:cNvPr id="17" name="TextBox 16"/>
          <p:cNvSpPr txBox="1"/>
          <p:nvPr/>
        </p:nvSpPr>
        <p:spPr>
          <a:xfrm>
            <a:off x="1325880" y="3858768"/>
            <a:ext cx="2600858" cy="411480"/>
          </a:xfrm>
          <a:prstGeom prst="rect">
            <a:avLst/>
          </a:prstGeom>
          <a:noFill/>
        </p:spPr>
        <p:txBody>
          <a:bodyPr wrap="square" lIns="0" tIns="0" rIns="0" bIns="0" anchor="ctr">
            <a:spAutoFit/>
          </a:bodyPr>
          <a:lstStyle/>
          <a:p>
            <a:pPr algn="l"/>
            <a:r>
              <a:rPr sz="1700" b="1" i="0">
                <a:solidFill>
                  <a:srgbClr val="14142B"/>
                </a:solidFill>
                <a:latin typeface="Calibri"/>
              </a:rPr>
              <a:t>Semantic cache</a:t>
            </a:r>
          </a:p>
        </p:txBody>
      </p:sp>
      <p:sp>
        <p:nvSpPr>
          <p:cNvPr id="18" name="TextBox 17"/>
          <p:cNvSpPr txBox="1"/>
          <p:nvPr/>
        </p:nvSpPr>
        <p:spPr>
          <a:xfrm>
            <a:off x="777240" y="4434840"/>
            <a:ext cx="3058058" cy="1234439"/>
          </a:xfrm>
          <a:prstGeom prst="rect">
            <a:avLst/>
          </a:prstGeom>
          <a:noFill/>
        </p:spPr>
        <p:txBody>
          <a:bodyPr wrap="square" lIns="0" tIns="0" rIns="0" bIns="0" anchor="t">
            <a:spAutoFit/>
          </a:bodyPr>
          <a:lstStyle/>
          <a:p>
            <a:pPr algn="l"/>
            <a:r>
              <a:rPr sz="1500" b="0" i="0">
                <a:latin typeface="Calibri"/>
              </a:rPr>
              <a:t>Dual-tier cache: SHA-256 exact key + all-MiniLM-L6-v2 semantic matching, isolated by SIIS fingerprint, polarity and version.</a:t>
            </a:r>
          </a:p>
        </p:txBody>
      </p:sp>
      <p:sp>
        <p:nvSpPr>
          <p:cNvPr id="19" name="Rounded Rectangle 18"/>
          <p:cNvSpPr/>
          <p:nvPr/>
        </p:nvSpPr>
        <p:spPr>
          <a:xfrm>
            <a:off x="4338218" y="3657599"/>
            <a:ext cx="3515258" cy="2103120"/>
          </a:xfrm>
          <a:prstGeom prst="roundRect">
            <a:avLst>
              <a:gd name="adj" fmla="val 3478"/>
            </a:avLst>
          </a:prstGeom>
          <a:solidFill>
            <a:srgbClr val="F4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4539386" y="3858768"/>
            <a:ext cx="411480" cy="41148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5</a:t>
            </a:r>
          </a:p>
        </p:txBody>
      </p:sp>
      <p:sp>
        <p:nvSpPr>
          <p:cNvPr id="21" name="TextBox 20"/>
          <p:cNvSpPr txBox="1"/>
          <p:nvPr/>
        </p:nvSpPr>
        <p:spPr>
          <a:xfrm>
            <a:off x="5115458" y="3858768"/>
            <a:ext cx="2600858" cy="411480"/>
          </a:xfrm>
          <a:prstGeom prst="rect">
            <a:avLst/>
          </a:prstGeom>
          <a:noFill/>
        </p:spPr>
        <p:txBody>
          <a:bodyPr wrap="square" lIns="0" tIns="0" rIns="0" bIns="0" anchor="ctr">
            <a:spAutoFit/>
          </a:bodyPr>
          <a:lstStyle/>
          <a:p>
            <a:pPr algn="l"/>
            <a:r>
              <a:rPr sz="1700" b="1" i="0">
                <a:solidFill>
                  <a:srgbClr val="14142B"/>
                </a:solidFill>
                <a:latin typeface="Calibri"/>
              </a:rPr>
              <a:t>Web demo</a:t>
            </a:r>
          </a:p>
        </p:txBody>
      </p:sp>
      <p:sp>
        <p:nvSpPr>
          <p:cNvPr id="22" name="TextBox 21"/>
          <p:cNvSpPr txBox="1"/>
          <p:nvPr/>
        </p:nvSpPr>
        <p:spPr>
          <a:xfrm>
            <a:off x="4566818" y="4434840"/>
            <a:ext cx="3058058" cy="1234439"/>
          </a:xfrm>
          <a:prstGeom prst="rect">
            <a:avLst/>
          </a:prstGeom>
          <a:noFill/>
        </p:spPr>
        <p:txBody>
          <a:bodyPr wrap="square" lIns="0" tIns="0" rIns="0" bIns="0" anchor="t">
            <a:spAutoFit/>
          </a:bodyPr>
          <a:lstStyle/>
          <a:p>
            <a:pPr algn="l"/>
            <a:r>
              <a:rPr sz="1500" b="0" i="0">
                <a:latin typeface="Calibri"/>
              </a:rPr>
              <a:t>React 18 + TypeScript + Vite frontend with Troubleshooter and Evaluator Dashboard views.</a:t>
            </a:r>
          </a:p>
        </p:txBody>
      </p:sp>
      <p:sp>
        <p:nvSpPr>
          <p:cNvPr id="23" name="Rounded Rectangle 22"/>
          <p:cNvSpPr/>
          <p:nvPr/>
        </p:nvSpPr>
        <p:spPr>
          <a:xfrm>
            <a:off x="8127796" y="3657599"/>
            <a:ext cx="3515258" cy="2103120"/>
          </a:xfrm>
          <a:prstGeom prst="roundRect">
            <a:avLst>
              <a:gd name="adj" fmla="val 3478"/>
            </a:avLst>
          </a:prstGeom>
          <a:solidFill>
            <a:srgbClr val="F4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8328964" y="3858768"/>
            <a:ext cx="411480" cy="41148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6</a:t>
            </a:r>
          </a:p>
        </p:txBody>
      </p:sp>
      <p:sp>
        <p:nvSpPr>
          <p:cNvPr id="25" name="TextBox 24"/>
          <p:cNvSpPr txBox="1"/>
          <p:nvPr/>
        </p:nvSpPr>
        <p:spPr>
          <a:xfrm>
            <a:off x="8905036" y="3858768"/>
            <a:ext cx="2600858" cy="411480"/>
          </a:xfrm>
          <a:prstGeom prst="rect">
            <a:avLst/>
          </a:prstGeom>
          <a:noFill/>
        </p:spPr>
        <p:txBody>
          <a:bodyPr wrap="square" lIns="0" tIns="0" rIns="0" bIns="0" anchor="ctr">
            <a:spAutoFit/>
          </a:bodyPr>
          <a:lstStyle/>
          <a:p>
            <a:pPr algn="l"/>
            <a:r>
              <a:rPr sz="1700" b="1" i="0">
                <a:solidFill>
                  <a:srgbClr val="14142B"/>
                </a:solidFill>
                <a:latin typeface="Calibri"/>
              </a:rPr>
              <a:t>Quality and delivery</a:t>
            </a:r>
          </a:p>
        </p:txBody>
      </p:sp>
      <p:sp>
        <p:nvSpPr>
          <p:cNvPr id="26" name="TextBox 25"/>
          <p:cNvSpPr txBox="1"/>
          <p:nvPr/>
        </p:nvSpPr>
        <p:spPr>
          <a:xfrm>
            <a:off x="8356396" y="4434840"/>
            <a:ext cx="3058058" cy="1234439"/>
          </a:xfrm>
          <a:prstGeom prst="rect">
            <a:avLst/>
          </a:prstGeom>
          <a:noFill/>
        </p:spPr>
        <p:txBody>
          <a:bodyPr wrap="square" lIns="0" tIns="0" rIns="0" bIns="0" anchor="t">
            <a:spAutoFit/>
          </a:bodyPr>
          <a:lstStyle/>
          <a:p>
            <a:pPr algn="l"/>
            <a:r>
              <a:rPr sz="1500" b="0" i="0">
                <a:latin typeface="Calibri"/>
              </a:rPr>
              <a:t>104 automated tests passed; coverage includes schema, grounding, deeplinks, cache isolation, adversarial checks, NBE and frontend integration. Public GitHub with reproducible setup.</a:t>
            </a:r>
          </a:p>
        </p:txBody>
      </p:sp>
    </p:spTree>
    <p:extLst>
      <p:ext uri="{BB962C8B-B14F-4D97-AF65-F5344CB8AC3E}">
        <p14:creationId xmlns:p14="http://schemas.microsoft.com/office/powerpoint/2010/main" val="3724828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457200" y="320040"/>
            <a:ext cx="11277295" cy="685800"/>
          </a:xfrm>
        </p:spPr>
        <p:txBody>
          <a:bodyPr anchor="ctr"/>
          <a:lstStyle/>
          <a:p>
            <a:r>
              <a:rPr lang="en-US" sz="3000" b="1" dirty="0">
                <a:solidFill>
                  <a:srgbClr val="704EA6"/>
                </a:solidFill>
                <a:latin typeface="Calibri" pitchFamily="34" charset="0"/>
                <a:ea typeface="Calibri" pitchFamily="34" charset="-122"/>
                <a:cs typeface="Calibri" pitchFamily="34" charset="-120"/>
              </a:rPr>
              <a:t>Impact &amp; Use case</a:t>
            </a:r>
            <a:endParaRPr lang="en-IN" b="1" dirty="0">
              <a:solidFill>
                <a:srgbClr val="704EA6"/>
              </a:solidFill>
            </a:endParaRPr>
          </a:p>
        </p:txBody>
      </p:sp>
      <p:sp>
        <p:nvSpPr>
          <p:cNvPr id="3" name="Rounded Rectangle 2"/>
          <p:cNvSpPr/>
          <p:nvPr/>
        </p:nvSpPr>
        <p:spPr>
          <a:xfrm>
            <a:off x="548640" y="1280160"/>
            <a:ext cx="3515258" cy="1600200"/>
          </a:xfrm>
          <a:prstGeom prst="roundRect">
            <a:avLst>
              <a:gd name="adj" fmla="val 4571"/>
            </a:avLst>
          </a:prstGeom>
          <a:solidFill>
            <a:srgbClr val="F4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417320"/>
            <a:ext cx="3515258" cy="822960"/>
          </a:xfrm>
          <a:prstGeom prst="rect">
            <a:avLst/>
          </a:prstGeom>
          <a:noFill/>
        </p:spPr>
        <p:txBody>
          <a:bodyPr wrap="square" lIns="0" tIns="0" rIns="0" bIns="0" anchor="ctr">
            <a:spAutoFit/>
          </a:bodyPr>
          <a:lstStyle/>
          <a:p>
            <a:pPr algn="ctr"/>
            <a:r>
              <a:rPr sz="4800" b="1" i="0">
                <a:solidFill>
                  <a:srgbClr val="6D28D9"/>
                </a:solidFill>
                <a:latin typeface="Calibri"/>
              </a:rPr>
              <a:t>578</a:t>
            </a:r>
          </a:p>
        </p:txBody>
      </p:sp>
      <p:sp>
        <p:nvSpPr>
          <p:cNvPr id="5" name="TextBox 4"/>
          <p:cNvSpPr txBox="1"/>
          <p:nvPr/>
        </p:nvSpPr>
        <p:spPr>
          <a:xfrm>
            <a:off x="731520" y="2286000"/>
            <a:ext cx="3149498" cy="457200"/>
          </a:xfrm>
          <a:prstGeom prst="rect">
            <a:avLst/>
          </a:prstGeom>
          <a:noFill/>
        </p:spPr>
        <p:txBody>
          <a:bodyPr wrap="square" lIns="0" tIns="0" rIns="0" bIns="0" anchor="t">
            <a:spAutoFit/>
          </a:bodyPr>
          <a:lstStyle/>
          <a:p>
            <a:pPr algn="ctr"/>
            <a:r>
              <a:rPr sz="1300" b="0" i="0">
                <a:latin typeface="Calibri"/>
              </a:rPr>
              <a:t>Authoritative Settings deeplink catalog</a:t>
            </a:r>
          </a:p>
        </p:txBody>
      </p:sp>
      <p:sp>
        <p:nvSpPr>
          <p:cNvPr id="6" name="Rounded Rectangle 5"/>
          <p:cNvSpPr/>
          <p:nvPr/>
        </p:nvSpPr>
        <p:spPr>
          <a:xfrm>
            <a:off x="4338218" y="1280160"/>
            <a:ext cx="3515258" cy="1600200"/>
          </a:xfrm>
          <a:prstGeom prst="roundRect">
            <a:avLst>
              <a:gd name="adj" fmla="val 4571"/>
            </a:avLst>
          </a:prstGeom>
          <a:solidFill>
            <a:srgbClr val="F4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338218" y="1417320"/>
            <a:ext cx="3515258" cy="822960"/>
          </a:xfrm>
          <a:prstGeom prst="rect">
            <a:avLst/>
          </a:prstGeom>
          <a:noFill/>
        </p:spPr>
        <p:txBody>
          <a:bodyPr wrap="square" lIns="0" tIns="0" rIns="0" bIns="0" anchor="ctr">
            <a:spAutoFit/>
          </a:bodyPr>
          <a:lstStyle/>
          <a:p>
            <a:pPr algn="ctr"/>
            <a:r>
              <a:rPr sz="4800" b="1" i="0">
                <a:solidFill>
                  <a:srgbClr val="6D28D9"/>
                </a:solidFill>
                <a:latin typeface="Calibri"/>
              </a:rPr>
              <a:t>&lt;300 ms</a:t>
            </a:r>
          </a:p>
        </p:txBody>
      </p:sp>
      <p:sp>
        <p:nvSpPr>
          <p:cNvPr id="8" name="TextBox 7"/>
          <p:cNvSpPr txBox="1"/>
          <p:nvPr/>
        </p:nvSpPr>
        <p:spPr>
          <a:xfrm>
            <a:off x="4521098" y="2286000"/>
            <a:ext cx="3149498" cy="457200"/>
          </a:xfrm>
          <a:prstGeom prst="rect">
            <a:avLst/>
          </a:prstGeom>
          <a:noFill/>
        </p:spPr>
        <p:txBody>
          <a:bodyPr wrap="square" lIns="0" tIns="0" rIns="0" bIns="0" anchor="t">
            <a:spAutoFit/>
          </a:bodyPr>
          <a:lstStyle/>
          <a:p>
            <a:pPr algn="ctr"/>
            <a:r>
              <a:rPr sz="1300" b="0" i="0">
                <a:latin typeface="Calibri"/>
              </a:rPr>
              <a:t>1.24 ms</a:t>
            </a:r>
          </a:p>
        </p:txBody>
      </p:sp>
      <p:sp>
        <p:nvSpPr>
          <p:cNvPr id="9" name="Rounded Rectangle 8"/>
          <p:cNvSpPr/>
          <p:nvPr/>
        </p:nvSpPr>
        <p:spPr>
          <a:xfrm>
            <a:off x="8127796" y="1280160"/>
            <a:ext cx="3515258" cy="1600200"/>
          </a:xfrm>
          <a:prstGeom prst="roundRect">
            <a:avLst>
              <a:gd name="adj" fmla="val 4571"/>
            </a:avLst>
          </a:prstGeom>
          <a:solidFill>
            <a:srgbClr val="F4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t>Exact-cache P95 server latency</a:t>
            </a:r>
          </a:p>
        </p:txBody>
      </p:sp>
      <p:sp>
        <p:nvSpPr>
          <p:cNvPr id="10" name="TextBox 9"/>
          <p:cNvSpPr txBox="1"/>
          <p:nvPr/>
        </p:nvSpPr>
        <p:spPr>
          <a:xfrm>
            <a:off x="8127796" y="1417320"/>
            <a:ext cx="3515258" cy="822960"/>
          </a:xfrm>
          <a:prstGeom prst="rect">
            <a:avLst/>
          </a:prstGeom>
          <a:noFill/>
        </p:spPr>
        <p:txBody>
          <a:bodyPr wrap="square" lIns="0" tIns="0" rIns="0" bIns="0" anchor="ctr">
            <a:spAutoFit/>
          </a:bodyPr>
          <a:lstStyle/>
          <a:p>
            <a:pPr algn="ctr"/>
            <a:r>
              <a:rPr sz="4800" b="1" i="0">
                <a:solidFill>
                  <a:srgbClr val="6D28D9"/>
                </a:solidFill>
                <a:latin typeface="Calibri"/>
              </a:rPr>
              <a:t>10k+</a:t>
            </a:r>
          </a:p>
        </p:txBody>
      </p:sp>
      <p:sp>
        <p:nvSpPr>
          <p:cNvPr id="11" name="TextBox 10"/>
          <p:cNvSpPr txBox="1"/>
          <p:nvPr/>
        </p:nvSpPr>
        <p:spPr>
          <a:xfrm>
            <a:off x="8310676" y="2286000"/>
            <a:ext cx="3149498" cy="457200"/>
          </a:xfrm>
          <a:prstGeom prst="rect">
            <a:avLst/>
          </a:prstGeom>
          <a:noFill/>
        </p:spPr>
        <p:txBody>
          <a:bodyPr wrap="square" lIns="0" tIns="0" rIns="0" bIns="0" anchor="t">
            <a:spAutoFit/>
          </a:bodyPr>
          <a:lstStyle/>
          <a:p>
            <a:pPr algn="ctr"/>
            <a:r>
              <a:rPr sz="1300" b="0" i="0">
                <a:latin typeface="Calibri"/>
              </a:rPr>
              <a:t>92.5%</a:t>
            </a:r>
          </a:p>
        </p:txBody>
      </p:sp>
      <p:sp>
        <p:nvSpPr>
          <p:cNvPr id="12" name="TextBox 11"/>
          <p:cNvSpPr txBox="1"/>
          <p:nvPr/>
        </p:nvSpPr>
        <p:spPr>
          <a:xfrm>
            <a:off x="548640" y="3154680"/>
            <a:ext cx="5364327" cy="365760"/>
          </a:xfrm>
          <a:prstGeom prst="rect">
            <a:avLst/>
          </a:prstGeom>
          <a:noFill/>
        </p:spPr>
        <p:txBody>
          <a:bodyPr wrap="square" lIns="0" tIns="0" rIns="0" bIns="0" anchor="t">
            <a:spAutoFit/>
          </a:bodyPr>
          <a:lstStyle/>
          <a:p>
            <a:pPr algn="l"/>
            <a:r>
              <a:rPr sz="2000" b="1" i="0">
                <a:latin typeface="Calibri"/>
              </a:rPr>
              <a:t>Semantic/paraphrase cache hit rate (185/200)</a:t>
            </a:r>
          </a:p>
        </p:txBody>
      </p:sp>
      <p:sp>
        <p:nvSpPr>
          <p:cNvPr id="13" name="Oval 12"/>
          <p:cNvSpPr/>
          <p:nvPr/>
        </p:nvSpPr>
        <p:spPr>
          <a:xfrm>
            <a:off x="548640" y="3730752"/>
            <a:ext cx="457200" cy="45720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1</a:t>
            </a:r>
          </a:p>
        </p:txBody>
      </p:sp>
      <p:sp>
        <p:nvSpPr>
          <p:cNvPr id="14" name="TextBox 13"/>
          <p:cNvSpPr txBox="1"/>
          <p:nvPr/>
        </p:nvSpPr>
        <p:spPr>
          <a:xfrm>
            <a:off x="1234440" y="3657600"/>
            <a:ext cx="4632807" cy="365760"/>
          </a:xfrm>
          <a:prstGeom prst="rect">
            <a:avLst/>
          </a:prstGeom>
          <a:noFill/>
        </p:spPr>
        <p:txBody>
          <a:bodyPr wrap="square" lIns="0" tIns="0" rIns="0" bIns="0" anchor="t">
            <a:spAutoFit/>
          </a:bodyPr>
          <a:lstStyle/>
          <a:p>
            <a:pPr algn="l"/>
            <a:r>
              <a:rPr sz="1600" b="1" i="0">
                <a:solidFill>
                  <a:srgbClr val="14142B"/>
                </a:solidFill>
                <a:latin typeface="Calibri"/>
              </a:rPr>
              <a:t>Galaxy users</a:t>
            </a:r>
          </a:p>
        </p:txBody>
      </p:sp>
      <p:sp>
        <p:nvSpPr>
          <p:cNvPr id="15" name="TextBox 14"/>
          <p:cNvSpPr txBox="1"/>
          <p:nvPr/>
        </p:nvSpPr>
        <p:spPr>
          <a:xfrm>
            <a:off x="1234440" y="4023360"/>
            <a:ext cx="4632807" cy="411480"/>
          </a:xfrm>
          <a:prstGeom prst="rect">
            <a:avLst/>
          </a:prstGeom>
          <a:noFill/>
        </p:spPr>
        <p:txBody>
          <a:bodyPr wrap="square" lIns="0" tIns="0" rIns="0" bIns="0" anchor="t">
            <a:spAutoFit/>
          </a:bodyPr>
          <a:lstStyle/>
          <a:p>
            <a:pPr algn="l"/>
            <a:r>
              <a:rPr sz="1400" b="0" i="0">
                <a:latin typeface="Calibri"/>
              </a:rPr>
              <a:t>Grounded troubleshooting from vague complaints; validated Settings navigation</a:t>
            </a:r>
          </a:p>
        </p:txBody>
      </p:sp>
      <p:sp>
        <p:nvSpPr>
          <p:cNvPr id="16" name="Oval 15"/>
          <p:cNvSpPr/>
          <p:nvPr/>
        </p:nvSpPr>
        <p:spPr>
          <a:xfrm>
            <a:off x="548640" y="4599432"/>
            <a:ext cx="457200" cy="45720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2</a:t>
            </a:r>
          </a:p>
        </p:txBody>
      </p:sp>
      <p:sp>
        <p:nvSpPr>
          <p:cNvPr id="17" name="TextBox 16"/>
          <p:cNvSpPr txBox="1"/>
          <p:nvPr/>
        </p:nvSpPr>
        <p:spPr>
          <a:xfrm>
            <a:off x="1234440" y="4526280"/>
            <a:ext cx="4632807" cy="365760"/>
          </a:xfrm>
          <a:prstGeom prst="rect">
            <a:avLst/>
          </a:prstGeom>
          <a:noFill/>
        </p:spPr>
        <p:txBody>
          <a:bodyPr wrap="square" lIns="0" tIns="0" rIns="0" bIns="0" anchor="t">
            <a:spAutoFit/>
          </a:bodyPr>
          <a:lstStyle/>
          <a:p>
            <a:pPr algn="l"/>
            <a:r>
              <a:rPr sz="1600" b="1" i="0">
                <a:solidFill>
                  <a:srgbClr val="14142B"/>
                </a:solidFill>
                <a:latin typeface="Calibri"/>
              </a:rPr>
              <a:t>Samsung support</a:t>
            </a:r>
          </a:p>
        </p:txBody>
      </p:sp>
      <p:sp>
        <p:nvSpPr>
          <p:cNvPr id="18" name="TextBox 17"/>
          <p:cNvSpPr txBox="1"/>
          <p:nvPr/>
        </p:nvSpPr>
        <p:spPr>
          <a:xfrm>
            <a:off x="1234440" y="4892040"/>
            <a:ext cx="4632807" cy="411480"/>
          </a:xfrm>
          <a:prstGeom prst="rect">
            <a:avLst/>
          </a:prstGeom>
          <a:noFill/>
        </p:spPr>
        <p:txBody>
          <a:bodyPr wrap="square" lIns="0" tIns="0" rIns="0" bIns="0" anchor="t">
            <a:spAutoFit/>
          </a:bodyPr>
          <a:lstStyle/>
          <a:p>
            <a:pPr algn="l"/>
            <a:r>
              <a:rPr sz="1400" b="0" i="0">
                <a:latin typeface="Calibri"/>
              </a:rPr>
              <a:t>Consistent, evidence-backed diagnostic workflows</a:t>
            </a:r>
          </a:p>
        </p:txBody>
      </p:sp>
      <p:sp>
        <p:nvSpPr>
          <p:cNvPr id="19" name="Oval 18"/>
          <p:cNvSpPr/>
          <p:nvPr/>
        </p:nvSpPr>
        <p:spPr>
          <a:xfrm>
            <a:off x="548640" y="5468112"/>
            <a:ext cx="457200" cy="45720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3</a:t>
            </a:r>
          </a:p>
        </p:txBody>
      </p:sp>
      <p:sp>
        <p:nvSpPr>
          <p:cNvPr id="20" name="TextBox 19"/>
          <p:cNvSpPr txBox="1"/>
          <p:nvPr/>
        </p:nvSpPr>
        <p:spPr>
          <a:xfrm>
            <a:off x="1234440" y="5394960"/>
            <a:ext cx="4632807" cy="365760"/>
          </a:xfrm>
          <a:prstGeom prst="rect">
            <a:avLst/>
          </a:prstGeom>
          <a:noFill/>
        </p:spPr>
        <p:txBody>
          <a:bodyPr wrap="square" lIns="0" tIns="0" rIns="0" bIns="0" anchor="t">
            <a:spAutoFit/>
          </a:bodyPr>
          <a:lstStyle/>
          <a:p>
            <a:pPr algn="l"/>
            <a:r>
              <a:rPr sz="1600" b="1" i="0">
                <a:solidFill>
                  <a:srgbClr val="14142B"/>
                </a:solidFill>
                <a:latin typeface="Calibri"/>
              </a:rPr>
              <a:t>Engineering</a:t>
            </a:r>
          </a:p>
        </p:txBody>
      </p:sp>
      <p:sp>
        <p:nvSpPr>
          <p:cNvPr id="21" name="TextBox 20"/>
          <p:cNvSpPr txBox="1"/>
          <p:nvPr/>
        </p:nvSpPr>
        <p:spPr>
          <a:xfrm>
            <a:off x="1234440" y="5760720"/>
            <a:ext cx="4632807" cy="411480"/>
          </a:xfrm>
          <a:prstGeom prst="rect">
            <a:avLst/>
          </a:prstGeom>
          <a:noFill/>
        </p:spPr>
        <p:txBody>
          <a:bodyPr wrap="square" lIns="0" tIns="0" rIns="0" bIns="0" anchor="t">
            <a:spAutoFit/>
          </a:bodyPr>
          <a:lstStyle/>
          <a:p>
            <a:pPr algn="l"/>
            <a:r>
              <a:rPr sz="1400" b="0" i="0">
                <a:latin typeface="Calibri"/>
              </a:rPr>
              <a:t>Add scenarios through SIIS content and catalog mappings; no retraining required for the baseline</a:t>
            </a:r>
          </a:p>
        </p:txBody>
      </p:sp>
      <p:sp>
        <p:nvSpPr>
          <p:cNvPr id="22" name="TextBox 21"/>
          <p:cNvSpPr txBox="1"/>
          <p:nvPr/>
        </p:nvSpPr>
        <p:spPr>
          <a:xfrm>
            <a:off x="6278727" y="3154680"/>
            <a:ext cx="5364327" cy="365760"/>
          </a:xfrm>
          <a:prstGeom prst="rect">
            <a:avLst/>
          </a:prstGeom>
          <a:noFill/>
        </p:spPr>
        <p:txBody>
          <a:bodyPr wrap="square" lIns="0" tIns="0" rIns="0" bIns="0" anchor="t">
            <a:spAutoFit/>
          </a:bodyPr>
          <a:lstStyle/>
          <a:p>
            <a:pPr algn="l"/>
            <a:r>
              <a:rPr sz="2000" b="1" i="0">
                <a:solidFill>
                  <a:srgbClr val="14142B"/>
                </a:solidFill>
                <a:latin typeface="Calibri"/>
              </a:rPr>
              <a:t>Use cases</a:t>
            </a:r>
          </a:p>
        </p:txBody>
      </p:sp>
      <p:sp>
        <p:nvSpPr>
          <p:cNvPr id="23" name="Oval 22"/>
          <p:cNvSpPr/>
          <p:nvPr/>
        </p:nvSpPr>
        <p:spPr>
          <a:xfrm>
            <a:off x="6278727" y="3730752"/>
            <a:ext cx="457200" cy="45720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1</a:t>
            </a:r>
          </a:p>
        </p:txBody>
      </p:sp>
      <p:sp>
        <p:nvSpPr>
          <p:cNvPr id="24" name="TextBox 23"/>
          <p:cNvSpPr txBox="1"/>
          <p:nvPr/>
        </p:nvSpPr>
        <p:spPr>
          <a:xfrm>
            <a:off x="6964527" y="3657600"/>
            <a:ext cx="4632807" cy="365760"/>
          </a:xfrm>
          <a:prstGeom prst="rect">
            <a:avLst/>
          </a:prstGeom>
          <a:noFill/>
        </p:spPr>
        <p:txBody>
          <a:bodyPr wrap="square" lIns="0" tIns="0" rIns="0" bIns="0" anchor="t">
            <a:spAutoFit/>
          </a:bodyPr>
          <a:lstStyle/>
          <a:p>
            <a:pPr algn="l"/>
            <a:r>
              <a:rPr sz="1600" b="1" i="0">
                <a:solidFill>
                  <a:srgbClr val="14142B"/>
                </a:solidFill>
                <a:latin typeface="Calibri"/>
              </a:rPr>
              <a:t>Display</a:t>
            </a:r>
          </a:p>
        </p:txBody>
      </p:sp>
      <p:sp>
        <p:nvSpPr>
          <p:cNvPr id="25" name="TextBox 24"/>
          <p:cNvSpPr txBox="1"/>
          <p:nvPr/>
        </p:nvSpPr>
        <p:spPr>
          <a:xfrm>
            <a:off x="6964527" y="4023360"/>
            <a:ext cx="4632807" cy="411480"/>
          </a:xfrm>
          <a:prstGeom prst="rect">
            <a:avLst/>
          </a:prstGeom>
          <a:noFill/>
        </p:spPr>
        <p:txBody>
          <a:bodyPr wrap="square" lIns="0" tIns="0" rIns="0" bIns="0" anchor="t">
            <a:spAutoFit/>
          </a:bodyPr>
          <a:lstStyle/>
          <a:p>
            <a:pPr algn="l"/>
            <a:r>
              <a:rPr sz="1400" b="0" i="0">
                <a:latin typeface="Calibri"/>
              </a:rPr>
              <a:t>Display</a:t>
            </a:r>
          </a:p>
        </p:txBody>
      </p:sp>
      <p:sp>
        <p:nvSpPr>
          <p:cNvPr id="26" name="Oval 25"/>
          <p:cNvSpPr/>
          <p:nvPr/>
        </p:nvSpPr>
        <p:spPr>
          <a:xfrm>
            <a:off x="6278727" y="4599432"/>
            <a:ext cx="457200" cy="45720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2</a:t>
            </a:r>
          </a:p>
        </p:txBody>
      </p:sp>
      <p:sp>
        <p:nvSpPr>
          <p:cNvPr id="27" name="TextBox 26"/>
          <p:cNvSpPr txBox="1"/>
          <p:nvPr/>
        </p:nvSpPr>
        <p:spPr>
          <a:xfrm>
            <a:off x="6964527" y="4526280"/>
            <a:ext cx="4632807" cy="365760"/>
          </a:xfrm>
          <a:prstGeom prst="rect">
            <a:avLst/>
          </a:prstGeom>
          <a:noFill/>
        </p:spPr>
        <p:txBody>
          <a:bodyPr wrap="square" lIns="0" tIns="0" rIns="0" bIns="0" anchor="t">
            <a:spAutoFit/>
          </a:bodyPr>
          <a:lstStyle/>
          <a:p>
            <a:pPr algn="l"/>
            <a:r>
              <a:rPr sz="1600" b="1" i="0">
                <a:solidFill>
                  <a:srgbClr val="14142B"/>
                </a:solidFill>
                <a:latin typeface="Calibri"/>
              </a:rPr>
              <a:t>Sound and connectivity</a:t>
            </a:r>
          </a:p>
        </p:txBody>
      </p:sp>
      <p:sp>
        <p:nvSpPr>
          <p:cNvPr id="28" name="TextBox 27"/>
          <p:cNvSpPr txBox="1"/>
          <p:nvPr/>
        </p:nvSpPr>
        <p:spPr>
          <a:xfrm>
            <a:off x="6964527" y="4892040"/>
            <a:ext cx="4632807" cy="411480"/>
          </a:xfrm>
          <a:prstGeom prst="rect">
            <a:avLst/>
          </a:prstGeom>
          <a:noFill/>
        </p:spPr>
        <p:txBody>
          <a:bodyPr wrap="square" lIns="0" tIns="0" rIns="0" bIns="0" anchor="t">
            <a:spAutoFit/>
          </a:bodyPr>
          <a:lstStyle/>
          <a:p>
            <a:pPr algn="l"/>
            <a:r>
              <a:rPr sz="1400" b="0" i="0">
                <a:latin typeface="Calibri"/>
              </a:rPr>
              <a:t>Wi-Fi, Bluetooth, connectivity and network settings</a:t>
            </a:r>
          </a:p>
        </p:txBody>
      </p:sp>
      <p:sp>
        <p:nvSpPr>
          <p:cNvPr id="29" name="Oval 28"/>
          <p:cNvSpPr/>
          <p:nvPr/>
        </p:nvSpPr>
        <p:spPr>
          <a:xfrm>
            <a:off x="6278727" y="5468112"/>
            <a:ext cx="457200" cy="45720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3</a:t>
            </a:r>
          </a:p>
        </p:txBody>
      </p:sp>
      <p:sp>
        <p:nvSpPr>
          <p:cNvPr id="30" name="TextBox 29"/>
          <p:cNvSpPr txBox="1"/>
          <p:nvPr/>
        </p:nvSpPr>
        <p:spPr>
          <a:xfrm>
            <a:off x="6964527" y="5394960"/>
            <a:ext cx="4632807" cy="365760"/>
          </a:xfrm>
          <a:prstGeom prst="rect">
            <a:avLst/>
          </a:prstGeom>
          <a:noFill/>
        </p:spPr>
        <p:txBody>
          <a:bodyPr wrap="square" lIns="0" tIns="0" rIns="0" bIns="0" anchor="t">
            <a:spAutoFit/>
          </a:bodyPr>
          <a:lstStyle/>
          <a:p>
            <a:pPr algn="l"/>
            <a:r>
              <a:rPr sz="1600" b="1" i="0">
                <a:solidFill>
                  <a:srgbClr val="14142B"/>
                </a:solidFill>
                <a:latin typeface="Calibri"/>
              </a:rPr>
              <a:t>Battery and notifications</a:t>
            </a:r>
          </a:p>
        </p:txBody>
      </p:sp>
      <p:sp>
        <p:nvSpPr>
          <p:cNvPr id="31" name="TextBox 30"/>
          <p:cNvSpPr txBox="1"/>
          <p:nvPr/>
        </p:nvSpPr>
        <p:spPr>
          <a:xfrm>
            <a:off x="6964527" y="5760720"/>
            <a:ext cx="4632807" cy="411480"/>
          </a:xfrm>
          <a:prstGeom prst="rect">
            <a:avLst/>
          </a:prstGeom>
          <a:noFill/>
        </p:spPr>
        <p:txBody>
          <a:bodyPr wrap="square" lIns="0" tIns="0" rIns="0" bIns="0" anchor="t">
            <a:spAutoFit/>
          </a:bodyPr>
          <a:lstStyle/>
          <a:p>
            <a:pPr algn="l"/>
            <a:r>
              <a:rPr sz="1400" b="0" i="0">
                <a:latin typeface="Calibri"/>
              </a:rPr>
              <a:t>Battery, notifications and other Settings-driven issues</a:t>
            </a:r>
          </a:p>
        </p:txBody>
      </p:sp>
    </p:spTree>
    <p:extLst>
      <p:ext uri="{BB962C8B-B14F-4D97-AF65-F5344CB8AC3E}">
        <p14:creationId xmlns:p14="http://schemas.microsoft.com/office/powerpoint/2010/main" val="3668119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457200" y="320040"/>
            <a:ext cx="11277295" cy="685800"/>
          </a:xfrm>
        </p:spPr>
        <p:txBody>
          <a:bodyPr anchor="ctr"/>
          <a:lstStyle/>
          <a:p>
            <a:pPr>
              <a:spcAft>
                <a:spcPts val="500"/>
              </a:spcAft>
              <a:buSzPct val="100000"/>
            </a:pPr>
            <a:r>
              <a:rPr lang="en-US" sz="3000" b="1" dirty="0">
                <a:solidFill>
                  <a:srgbClr val="704EA6"/>
                </a:solidFill>
                <a:latin typeface="Calibri" pitchFamily="34" charset="0"/>
                <a:ea typeface="Calibri" pitchFamily="34" charset="-122"/>
                <a:cs typeface="Calibri" pitchFamily="34" charset="-120"/>
              </a:rPr>
              <a:t>Innovation highlights, results and limitations</a:t>
            </a:r>
            <a:endParaRPr lang="en-US" sz="4400" b="1" dirty="0">
              <a:solidFill>
                <a:srgbClr val="704EA6"/>
              </a:solidFill>
            </a:endParaRPr>
          </a:p>
        </p:txBody>
      </p:sp>
      <p:sp>
        <p:nvSpPr>
          <p:cNvPr id="3" name="Rounded Rectangle 2"/>
          <p:cNvSpPr/>
          <p:nvPr/>
        </p:nvSpPr>
        <p:spPr>
          <a:xfrm>
            <a:off x="548640" y="1280160"/>
            <a:ext cx="3383280" cy="4754880"/>
          </a:xfrm>
          <a:prstGeom prst="roundRect">
            <a:avLst>
              <a:gd name="adj" fmla="val 2162"/>
            </a:avLst>
          </a:prstGeom>
          <a:solidFill>
            <a:srgbClr val="F4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1463039"/>
            <a:ext cx="2926080" cy="365760"/>
          </a:xfrm>
          <a:prstGeom prst="rect">
            <a:avLst/>
          </a:prstGeom>
          <a:noFill/>
        </p:spPr>
        <p:txBody>
          <a:bodyPr wrap="square" lIns="0" tIns="0" rIns="0" bIns="0" anchor="t">
            <a:spAutoFit/>
          </a:bodyPr>
          <a:lstStyle/>
          <a:p>
            <a:pPr algn="l"/>
            <a:r>
              <a:rPr sz="1900" b="1" i="0">
                <a:solidFill>
                  <a:srgbClr val="6D28D9"/>
                </a:solidFill>
                <a:latin typeface="Calibri"/>
              </a:rPr>
              <a:t>Innovation highlights</a:t>
            </a:r>
          </a:p>
        </p:txBody>
      </p:sp>
      <p:sp>
        <p:nvSpPr>
          <p:cNvPr id="5" name="Rounded Rectangle 4"/>
          <p:cNvSpPr/>
          <p:nvPr/>
        </p:nvSpPr>
        <p:spPr>
          <a:xfrm>
            <a:off x="4206240" y="1280160"/>
            <a:ext cx="4297680" cy="4754880"/>
          </a:xfrm>
          <a:prstGeom prst="roundRect">
            <a:avLst>
              <a:gd name="adj" fmla="val 1702"/>
            </a:avLst>
          </a:prstGeom>
          <a:solidFill>
            <a:srgbClr val="F4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434840" y="1463039"/>
            <a:ext cx="3840480" cy="365760"/>
          </a:xfrm>
          <a:prstGeom prst="rect">
            <a:avLst/>
          </a:prstGeom>
          <a:noFill/>
        </p:spPr>
        <p:txBody>
          <a:bodyPr wrap="square" lIns="0" tIns="0" rIns="0" bIns="0" anchor="t">
            <a:spAutoFit/>
          </a:bodyPr>
          <a:lstStyle/>
          <a:p>
            <a:pPr algn="l"/>
            <a:r>
              <a:rPr sz="1900" b="1" i="0">
                <a:solidFill>
                  <a:srgbClr val="6D28D9"/>
                </a:solidFill>
                <a:latin typeface="Calibri"/>
              </a:rPr>
              <a:t>Results</a:t>
            </a:r>
          </a:p>
        </p:txBody>
      </p:sp>
      <p:sp>
        <p:nvSpPr>
          <p:cNvPr id="7" name="Rounded Rectangle 6"/>
          <p:cNvSpPr/>
          <p:nvPr/>
        </p:nvSpPr>
        <p:spPr>
          <a:xfrm>
            <a:off x="8778240" y="1280160"/>
            <a:ext cx="2864815" cy="4754880"/>
          </a:xfrm>
          <a:prstGeom prst="roundRect">
            <a:avLst>
              <a:gd name="adj" fmla="val 2553"/>
            </a:avLst>
          </a:prstGeom>
          <a:solidFill>
            <a:srgbClr val="F4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006840" y="1463039"/>
            <a:ext cx="2407615" cy="365760"/>
          </a:xfrm>
          <a:prstGeom prst="rect">
            <a:avLst/>
          </a:prstGeom>
          <a:noFill/>
        </p:spPr>
        <p:txBody>
          <a:bodyPr wrap="square" lIns="0" tIns="0" rIns="0" bIns="0" anchor="t">
            <a:spAutoFit/>
          </a:bodyPr>
          <a:lstStyle/>
          <a:p>
            <a:pPr algn="l"/>
            <a:r>
              <a:rPr sz="1900" b="1" i="0">
                <a:solidFill>
                  <a:srgbClr val="6D28D9"/>
                </a:solidFill>
                <a:latin typeface="Calibri"/>
              </a:rPr>
              <a:t>Limitations</a:t>
            </a:r>
          </a:p>
        </p:txBody>
      </p:sp>
      <p:sp>
        <p:nvSpPr>
          <p:cNvPr id="9" name="TextBox 8"/>
          <p:cNvSpPr txBox="1"/>
          <p:nvPr/>
        </p:nvSpPr>
        <p:spPr>
          <a:xfrm>
            <a:off x="777240" y="2011680"/>
            <a:ext cx="2926080" cy="274320"/>
          </a:xfrm>
          <a:prstGeom prst="rect">
            <a:avLst/>
          </a:prstGeom>
          <a:noFill/>
        </p:spPr>
        <p:txBody>
          <a:bodyPr wrap="square" lIns="0" tIns="0" rIns="0" bIns="0" anchor="t">
            <a:spAutoFit/>
          </a:bodyPr>
          <a:lstStyle/>
          <a:p>
            <a:pPr algn="l"/>
            <a:r>
              <a:rPr sz="1450" b="1" i="0">
                <a:solidFill>
                  <a:srgbClr val="14142B"/>
                </a:solidFill>
                <a:latin typeface="Calibri"/>
              </a:rPr>
              <a:t>Grounding firewall</a:t>
            </a:r>
          </a:p>
        </p:txBody>
      </p:sp>
      <p:sp>
        <p:nvSpPr>
          <p:cNvPr id="10" name="TextBox 9"/>
          <p:cNvSpPr txBox="1"/>
          <p:nvPr/>
        </p:nvSpPr>
        <p:spPr>
          <a:xfrm>
            <a:off x="777240" y="2304288"/>
            <a:ext cx="2926080" cy="548640"/>
          </a:xfrm>
          <a:prstGeom prst="rect">
            <a:avLst/>
          </a:prstGeom>
          <a:noFill/>
        </p:spPr>
        <p:txBody>
          <a:bodyPr wrap="square" lIns="0" tIns="0" rIns="0" bIns="0" anchor="t">
            <a:spAutoFit/>
          </a:bodyPr>
          <a:lstStyle/>
          <a:p>
            <a:pPr algn="l"/>
            <a:r>
              <a:rPr sz="1250" b="0" i="0">
                <a:solidFill>
                  <a:srgbClr val="555570"/>
                </a:solidFill>
                <a:latin typeface="Calibri"/>
              </a:rPr>
              <a:t>LLM drafts, evidence decides what survives</a:t>
            </a:r>
          </a:p>
        </p:txBody>
      </p:sp>
      <p:sp>
        <p:nvSpPr>
          <p:cNvPr id="11" name="TextBox 10"/>
          <p:cNvSpPr txBox="1"/>
          <p:nvPr/>
        </p:nvSpPr>
        <p:spPr>
          <a:xfrm>
            <a:off x="777240" y="2944368"/>
            <a:ext cx="2926080" cy="274320"/>
          </a:xfrm>
          <a:prstGeom prst="rect">
            <a:avLst/>
          </a:prstGeom>
          <a:noFill/>
        </p:spPr>
        <p:txBody>
          <a:bodyPr wrap="square" lIns="0" tIns="0" rIns="0" bIns="0" anchor="t">
            <a:spAutoFit/>
          </a:bodyPr>
          <a:lstStyle/>
          <a:p>
            <a:pPr algn="l"/>
            <a:r>
              <a:rPr sz="1450" b="1" i="0">
                <a:solidFill>
                  <a:srgbClr val="14142B"/>
                </a:solidFill>
                <a:latin typeface="Calibri"/>
              </a:rPr>
              <a:t>Safe fallback</a:t>
            </a:r>
          </a:p>
        </p:txBody>
      </p:sp>
      <p:sp>
        <p:nvSpPr>
          <p:cNvPr id="12" name="TextBox 11"/>
          <p:cNvSpPr txBox="1"/>
          <p:nvPr/>
        </p:nvSpPr>
        <p:spPr>
          <a:xfrm>
            <a:off x="777240" y="3236976"/>
            <a:ext cx="2926080" cy="548640"/>
          </a:xfrm>
          <a:prstGeom prst="rect">
            <a:avLst/>
          </a:prstGeom>
          <a:noFill/>
        </p:spPr>
        <p:txBody>
          <a:bodyPr wrap="square" lIns="0" tIns="0" rIns="0" bIns="0" anchor="t">
            <a:spAutoFit/>
          </a:bodyPr>
          <a:lstStyle/>
          <a:p>
            <a:pPr algn="l"/>
            <a:r>
              <a:rPr sz="1250" b="0" i="0">
                <a:solidFill>
                  <a:srgbClr val="555570"/>
                </a:solidFill>
                <a:latin typeface="Calibri"/>
              </a:rPr>
              <a:t>Deterministic SIIS parser, never generic filler</a:t>
            </a:r>
          </a:p>
        </p:txBody>
      </p:sp>
      <p:sp>
        <p:nvSpPr>
          <p:cNvPr id="13" name="TextBox 12"/>
          <p:cNvSpPr txBox="1"/>
          <p:nvPr/>
        </p:nvSpPr>
        <p:spPr>
          <a:xfrm>
            <a:off x="777240" y="3877056"/>
            <a:ext cx="2926080" cy="274320"/>
          </a:xfrm>
          <a:prstGeom prst="rect">
            <a:avLst/>
          </a:prstGeom>
          <a:noFill/>
        </p:spPr>
        <p:txBody>
          <a:bodyPr wrap="square" lIns="0" tIns="0" rIns="0" bIns="0" anchor="t">
            <a:spAutoFit/>
          </a:bodyPr>
          <a:lstStyle/>
          <a:p>
            <a:pPr algn="l"/>
            <a:r>
              <a:rPr sz="1450" b="1" i="0">
                <a:solidFill>
                  <a:srgbClr val="14142B"/>
                </a:solidFill>
                <a:latin typeface="Calibri"/>
              </a:rPr>
              <a:t>Versioned cache</a:t>
            </a:r>
          </a:p>
        </p:txBody>
      </p:sp>
      <p:sp>
        <p:nvSpPr>
          <p:cNvPr id="14" name="TextBox 13"/>
          <p:cNvSpPr txBox="1"/>
          <p:nvPr/>
        </p:nvSpPr>
        <p:spPr>
          <a:xfrm>
            <a:off x="777240" y="4169664"/>
            <a:ext cx="2926080" cy="548640"/>
          </a:xfrm>
          <a:prstGeom prst="rect">
            <a:avLst/>
          </a:prstGeom>
          <a:noFill/>
        </p:spPr>
        <p:txBody>
          <a:bodyPr wrap="square" lIns="0" tIns="0" rIns="0" bIns="0" anchor="t">
            <a:spAutoFit/>
          </a:bodyPr>
          <a:lstStyle/>
          <a:p>
            <a:pPr algn="l"/>
            <a:r>
              <a:rPr sz="1250" b="0" i="0">
                <a:solidFill>
                  <a:srgbClr val="555570"/>
                </a:solidFill>
                <a:latin typeface="Calibri"/>
              </a:rPr>
              <a:t>Full-SIIS fingerprint prevents stale or leaked answers</a:t>
            </a:r>
          </a:p>
        </p:txBody>
      </p:sp>
      <p:sp>
        <p:nvSpPr>
          <p:cNvPr id="15" name="TextBox 14"/>
          <p:cNvSpPr txBox="1"/>
          <p:nvPr/>
        </p:nvSpPr>
        <p:spPr>
          <a:xfrm>
            <a:off x="777240" y="4809744"/>
            <a:ext cx="2926080" cy="274320"/>
          </a:xfrm>
          <a:prstGeom prst="rect">
            <a:avLst/>
          </a:prstGeom>
          <a:noFill/>
        </p:spPr>
        <p:txBody>
          <a:bodyPr wrap="square" lIns="0" tIns="0" rIns="0" bIns="0" anchor="t">
            <a:spAutoFit/>
          </a:bodyPr>
          <a:lstStyle/>
          <a:p>
            <a:pPr algn="l"/>
            <a:r>
              <a:rPr sz="1450" b="1" i="0">
                <a:latin typeface="Calibri"/>
              </a:rPr>
              <a:t>Next-Best-Evidence (NBE / EIG)</a:t>
            </a:r>
          </a:p>
        </p:txBody>
      </p:sp>
      <p:sp>
        <p:nvSpPr>
          <p:cNvPr id="16" name="TextBox 15"/>
          <p:cNvSpPr txBox="1"/>
          <p:nvPr/>
        </p:nvSpPr>
        <p:spPr>
          <a:xfrm>
            <a:off x="777240" y="5102352"/>
            <a:ext cx="2926080" cy="548640"/>
          </a:xfrm>
          <a:prstGeom prst="rect">
            <a:avLst/>
          </a:prstGeom>
          <a:noFill/>
        </p:spPr>
        <p:txBody>
          <a:bodyPr wrap="square" lIns="0" tIns="0" rIns="0" bIns="0" anchor="t">
            <a:spAutoFit/>
          </a:bodyPr>
          <a:lstStyle/>
          <a:p>
            <a:pPr algn="l"/>
            <a:r>
              <a:rPr sz="1250" b="0" i="0">
                <a:latin typeface="Calibri"/>
              </a:rPr>
              <a:t>Implemented deterministic Bayesian evidence-ranking engine</a:t>
            </a:r>
          </a:p>
        </p:txBody>
      </p:sp>
      <p:sp>
        <p:nvSpPr>
          <p:cNvPr id="17" name="Rounded Rectangle 16"/>
          <p:cNvSpPr/>
          <p:nvPr/>
        </p:nvSpPr>
        <p:spPr>
          <a:xfrm>
            <a:off x="2834639" y="4828031"/>
            <a:ext cx="868680" cy="219456"/>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a:latin typeface="Calibri"/>
              </a:rPr>
              <a:t>IMPLEMENTED</a:t>
            </a:r>
          </a:p>
        </p:txBody>
      </p:sp>
      <p:graphicFrame>
        <p:nvGraphicFramePr>
          <p:cNvPr id="18" name="Table 17"/>
          <p:cNvGraphicFramePr>
            <a:graphicFrameLocks noGrp="1"/>
          </p:cNvGraphicFramePr>
          <p:nvPr/>
        </p:nvGraphicFramePr>
        <p:xfrm>
          <a:off x="4434840" y="2011680"/>
          <a:ext cx="3840480" cy="201168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502920">
                <a:tc>
                  <a:txBody>
                    <a:bodyPr/>
                    <a:lstStyle/>
                    <a:p>
                      <a:r>
                        <a:rPr sz="1300" b="1">
                          <a:solidFill>
                            <a:srgbClr val="FFFFFF"/>
                          </a:solidFill>
                          <a:latin typeface="Calibri"/>
                        </a:rPr>
                        <a:t>Metric</a:t>
                      </a:r>
                    </a:p>
                  </a:txBody>
                  <a:tcPr anchor="ctr">
                    <a:solidFill>
                      <a:srgbClr val="6D28D9"/>
                    </a:solidFill>
                  </a:tcPr>
                </a:tc>
                <a:tc>
                  <a:txBody>
                    <a:bodyPr/>
                    <a:lstStyle/>
                    <a:p>
                      <a:r>
                        <a:rPr sz="1300" b="1">
                          <a:solidFill>
                            <a:srgbClr val="FFFFFF"/>
                          </a:solidFill>
                          <a:latin typeface="Calibri"/>
                        </a:rPr>
                        <a:t>Samsung asks</a:t>
                      </a:r>
                    </a:p>
                  </a:txBody>
                  <a:tcPr anchor="ctr">
                    <a:solidFill>
                      <a:srgbClr val="6D28D9"/>
                    </a:solidFill>
                  </a:tcPr>
                </a:tc>
                <a:tc>
                  <a:txBody>
                    <a:bodyPr/>
                    <a:lstStyle/>
                    <a:p>
                      <a:r>
                        <a:rPr sz="1300" b="1">
                          <a:solidFill>
                            <a:srgbClr val="FFFFFF"/>
                          </a:solidFill>
                          <a:latin typeface="Calibri"/>
                        </a:rPr>
                        <a:t>Our result</a:t>
                      </a:r>
                    </a:p>
                  </a:txBody>
                  <a:tcPr anchor="ctr">
                    <a:solidFill>
                      <a:srgbClr val="6D28D9"/>
                    </a:solidFill>
                  </a:tcPr>
                </a:tc>
                <a:extLst>
                  <a:ext uri="{0D108BD9-81ED-4DB2-BD59-A6C34878D82A}">
                    <a16:rowId xmlns:a16="http://schemas.microsoft.com/office/drawing/2014/main" val="10000"/>
                  </a:ext>
                </a:extLst>
              </a:tr>
              <a:tr h="502920">
                <a:tc>
                  <a:txBody>
                    <a:bodyPr/>
                    <a:lstStyle/>
                    <a:p>
                      <a:r>
                        <a:rPr sz="1300" b="0">
                          <a:solidFill>
                            <a:srgbClr val="14142B"/>
                          </a:solidFill>
                          <a:latin typeface="Calibri"/>
                        </a:rPr>
                        <a:t>Accuracy</a:t>
                      </a:r>
                    </a:p>
                  </a:txBody>
                  <a:tcPr anchor="ctr">
                    <a:solidFill>
                      <a:srgbClr val="FFFFFF"/>
                    </a:solidFill>
                  </a:tcPr>
                </a:tc>
                <a:tc>
                  <a:txBody>
                    <a:bodyPr/>
                    <a:lstStyle/>
                    <a:p>
                      <a:r>
                        <a:rPr sz="1000"/>
                        <a:t>Grounded step accuracy</a:t>
                      </a:r>
                    </a:p>
                  </a:txBody>
                  <a:tcPr anchor="ctr">
                    <a:solidFill>
                      <a:srgbClr val="FFFFFF"/>
                    </a:solidFill>
                  </a:tcPr>
                </a:tc>
                <a:tc>
                  <a:txBody>
                    <a:bodyPr/>
                    <a:lstStyle/>
                    <a:p>
                      <a:r>
                        <a:rPr sz="1000"/>
                        <a:t>3.0 / 3.0</a:t>
                      </a:r>
                    </a:p>
                  </a:txBody>
                  <a:tcPr anchor="ctr">
                    <a:solidFill>
                      <a:srgbClr val="FEF3C7"/>
                    </a:solidFill>
                  </a:tcPr>
                </a:tc>
                <a:extLst>
                  <a:ext uri="{0D108BD9-81ED-4DB2-BD59-A6C34878D82A}">
                    <a16:rowId xmlns:a16="http://schemas.microsoft.com/office/drawing/2014/main" val="10001"/>
                  </a:ext>
                </a:extLst>
              </a:tr>
              <a:tr h="502920">
                <a:tc>
                  <a:txBody>
                    <a:bodyPr/>
                    <a:lstStyle/>
                    <a:p>
                      <a:r>
                        <a:rPr sz="1300" b="0">
                          <a:solidFill>
                            <a:srgbClr val="14142B"/>
                          </a:solidFill>
                          <a:latin typeface="Calibri"/>
                        </a:rPr>
                        <a:t>Latency, cache hit</a:t>
                      </a:r>
                    </a:p>
                  </a:txBody>
                  <a:tcPr anchor="ctr">
                    <a:solidFill>
                      <a:srgbClr val="FFFFFF"/>
                    </a:solidFill>
                  </a:tcPr>
                </a:tc>
                <a:tc>
                  <a:txBody>
                    <a:bodyPr/>
                    <a:lstStyle/>
                    <a:p>
                      <a:r>
                        <a:rPr sz="1000"/>
                        <a:t>P95 target ≤300 ms</a:t>
                      </a:r>
                    </a:p>
                  </a:txBody>
                  <a:tcPr anchor="ctr">
                    <a:solidFill>
                      <a:srgbClr val="FFFFFF"/>
                    </a:solidFill>
                  </a:tcPr>
                </a:tc>
                <a:tc>
                  <a:txBody>
                    <a:bodyPr/>
                    <a:lstStyle/>
                    <a:p>
                      <a:r>
                        <a:rPr sz="1000"/>
                        <a:t>1.24 ms P95</a:t>
                      </a:r>
                    </a:p>
                  </a:txBody>
                  <a:tcPr anchor="ctr">
                    <a:solidFill>
                      <a:srgbClr val="FEF3C7"/>
                    </a:solidFill>
                  </a:tcPr>
                </a:tc>
                <a:extLst>
                  <a:ext uri="{0D108BD9-81ED-4DB2-BD59-A6C34878D82A}">
                    <a16:rowId xmlns:a16="http://schemas.microsoft.com/office/drawing/2014/main" val="10002"/>
                  </a:ext>
                </a:extLst>
              </a:tr>
              <a:tr h="502920">
                <a:tc>
                  <a:txBody>
                    <a:bodyPr/>
                    <a:lstStyle/>
                    <a:p>
                      <a:r>
                        <a:rPr sz="1300" b="0">
                          <a:solidFill>
                            <a:srgbClr val="14142B"/>
                          </a:solidFill>
                          <a:latin typeface="Calibri"/>
                        </a:rPr>
                        <a:t>Cost per query</a:t>
                      </a:r>
                    </a:p>
                  </a:txBody>
                  <a:tcPr anchor="ctr">
                    <a:solidFill>
                      <a:srgbClr val="FFFFFF"/>
                    </a:solidFill>
                  </a:tcPr>
                </a:tc>
                <a:tc>
                  <a:txBody>
                    <a:bodyPr/>
                    <a:lstStyle/>
                    <a:p>
                      <a:r>
                        <a:rPr sz="1000"/>
                        <a:t>Track inference cost</a:t>
                      </a:r>
                    </a:p>
                  </a:txBody>
                  <a:tcPr anchor="ctr">
                    <a:solidFill>
                      <a:srgbClr val="FFFFFF"/>
                    </a:solidFill>
                  </a:tcPr>
                </a:tc>
                <a:tc>
                  <a:txBody>
                    <a:bodyPr/>
                    <a:lstStyle/>
                    <a:p>
                      <a:r>
                        <a:rPr sz="1000"/>
                        <a:t>$0.00 cache / deterministic</a:t>
                      </a:r>
                    </a:p>
                  </a:txBody>
                  <a:tcPr anchor="ctr">
                    <a:solidFill>
                      <a:srgbClr val="FEF3C7"/>
                    </a:solidFill>
                  </a:tcPr>
                </a:tc>
                <a:extLst>
                  <a:ext uri="{0D108BD9-81ED-4DB2-BD59-A6C34878D82A}">
                    <a16:rowId xmlns:a16="http://schemas.microsoft.com/office/drawing/2014/main" val="10003"/>
                  </a:ext>
                </a:extLst>
              </a:tr>
            </a:tbl>
          </a:graphicData>
        </a:graphic>
      </p:graphicFrame>
      <p:sp>
        <p:nvSpPr>
          <p:cNvPr id="19" name="TextBox 18"/>
          <p:cNvSpPr txBox="1"/>
          <p:nvPr/>
        </p:nvSpPr>
        <p:spPr>
          <a:xfrm>
            <a:off x="4434840" y="6144768"/>
            <a:ext cx="3840480" cy="274320"/>
          </a:xfrm>
          <a:prstGeom prst="rect">
            <a:avLst/>
          </a:prstGeom>
          <a:noFill/>
        </p:spPr>
        <p:txBody>
          <a:bodyPr wrap="square" lIns="0" tIns="0" rIns="0" bIns="0" anchor="t">
            <a:spAutoFit/>
          </a:bodyPr>
          <a:lstStyle/>
          <a:p>
            <a:pPr algn="l">
              <a:spcAft>
                <a:spcPts val="800"/>
              </a:spcAft>
            </a:pPr>
            <a:r>
              <a:rPr sz="900" b="0">
                <a:latin typeface="Calibri"/>
              </a:rPr>
              <a:t>Benchmark basis: 100 repeat queries, 200 paraphrases, 12 unseen SIIS scenarios.</a:t>
            </a:r>
          </a:p>
        </p:txBody>
      </p:sp>
      <p:sp>
        <p:nvSpPr>
          <p:cNvPr id="20" name="TextBox 19"/>
          <p:cNvSpPr txBox="1"/>
          <p:nvPr/>
        </p:nvSpPr>
        <p:spPr>
          <a:xfrm>
            <a:off x="9006840" y="2011680"/>
            <a:ext cx="2407615" cy="274320"/>
          </a:xfrm>
          <a:prstGeom prst="rect">
            <a:avLst/>
          </a:prstGeom>
          <a:noFill/>
        </p:spPr>
        <p:txBody>
          <a:bodyPr wrap="square" lIns="0" tIns="0" rIns="0" bIns="0" anchor="t">
            <a:spAutoFit/>
          </a:bodyPr>
          <a:lstStyle/>
          <a:p>
            <a:pPr algn="l"/>
            <a:r>
              <a:rPr sz="1450" b="1" i="0">
                <a:solidFill>
                  <a:srgbClr val="14142B"/>
                </a:solidFill>
                <a:latin typeface="Calibri"/>
              </a:rPr>
              <a:t>Evidence-bound</a:t>
            </a:r>
          </a:p>
        </p:txBody>
      </p:sp>
      <p:sp>
        <p:nvSpPr>
          <p:cNvPr id="21" name="TextBox 20"/>
          <p:cNvSpPr txBox="1"/>
          <p:nvPr/>
        </p:nvSpPr>
        <p:spPr>
          <a:xfrm>
            <a:off x="9006840" y="2304288"/>
            <a:ext cx="2407615" cy="868680"/>
          </a:xfrm>
          <a:prstGeom prst="rect">
            <a:avLst/>
          </a:prstGeom>
          <a:noFill/>
        </p:spPr>
        <p:txBody>
          <a:bodyPr wrap="square" lIns="0" tIns="0" rIns="0" bIns="0" anchor="t">
            <a:spAutoFit/>
          </a:bodyPr>
          <a:lstStyle/>
          <a:p>
            <a:pPr algn="l"/>
            <a:r>
              <a:rPr sz="1250" b="0" i="0">
                <a:solidFill>
                  <a:srgbClr val="555570"/>
                </a:solidFill>
                <a:latin typeface="Calibri"/>
              </a:rPr>
              <a:t>No SIIS evidence means no step. A smaller grounded answer beats a fabricated one.</a:t>
            </a:r>
          </a:p>
        </p:txBody>
      </p:sp>
      <p:sp>
        <p:nvSpPr>
          <p:cNvPr id="22" name="TextBox 21"/>
          <p:cNvSpPr txBox="1"/>
          <p:nvPr/>
        </p:nvSpPr>
        <p:spPr>
          <a:xfrm>
            <a:off x="9006840" y="3291840"/>
            <a:ext cx="2407615" cy="274320"/>
          </a:xfrm>
          <a:prstGeom prst="rect">
            <a:avLst/>
          </a:prstGeom>
          <a:noFill/>
        </p:spPr>
        <p:txBody>
          <a:bodyPr wrap="square" lIns="0" tIns="0" rIns="0" bIns="0" anchor="t">
            <a:spAutoFit/>
          </a:bodyPr>
          <a:lstStyle/>
          <a:p>
            <a:pPr algn="l"/>
            <a:r>
              <a:rPr sz="1450" b="1" i="0">
                <a:latin typeface="Calibri"/>
              </a:rPr>
              <a:t>Product integration</a:t>
            </a:r>
          </a:p>
        </p:txBody>
      </p:sp>
      <p:sp>
        <p:nvSpPr>
          <p:cNvPr id="23" name="TextBox 22"/>
          <p:cNvSpPr txBox="1"/>
          <p:nvPr/>
        </p:nvSpPr>
        <p:spPr>
          <a:xfrm>
            <a:off x="9006840" y="3584448"/>
            <a:ext cx="2407615" cy="868680"/>
          </a:xfrm>
          <a:prstGeom prst="rect">
            <a:avLst/>
          </a:prstGeom>
          <a:noFill/>
        </p:spPr>
        <p:txBody>
          <a:bodyPr wrap="square" lIns="0" tIns="0" rIns="0" bIns="0" anchor="t">
            <a:spAutoFit/>
          </a:bodyPr>
          <a:lstStyle/>
          <a:p>
            <a:pPr algn="l"/>
            <a:r>
              <a:rPr sz="1250" b="0" i="0">
                <a:latin typeface="Calibri"/>
              </a:rPr>
              <a:t>Multi-turn NBE decision loop is implemented; adaptive question acquisition is not part of the main demo flow yet.</a:t>
            </a:r>
          </a:p>
        </p:txBody>
      </p:sp>
      <p:sp>
        <p:nvSpPr>
          <p:cNvPr id="24" name="TextBox 23"/>
          <p:cNvSpPr txBox="1"/>
          <p:nvPr/>
        </p:nvSpPr>
        <p:spPr>
          <a:xfrm>
            <a:off x="9006840" y="4572000"/>
            <a:ext cx="2407615" cy="274320"/>
          </a:xfrm>
          <a:prstGeom prst="rect">
            <a:avLst/>
          </a:prstGeom>
          <a:noFill/>
        </p:spPr>
        <p:txBody>
          <a:bodyPr wrap="square" lIns="0" tIns="0" rIns="0" bIns="0" anchor="t">
            <a:spAutoFit/>
          </a:bodyPr>
          <a:lstStyle/>
          <a:p>
            <a:pPr algn="l"/>
            <a:r>
              <a:rPr sz="1450" b="1">
                <a:latin typeface="Calibri"/>
              </a:rPr>
              <a:t>Catalog gaps</a:t>
            </a:r>
          </a:p>
        </p:txBody>
      </p:sp>
      <p:sp>
        <p:nvSpPr>
          <p:cNvPr id="25" name="TextBox 24"/>
          <p:cNvSpPr txBox="1"/>
          <p:nvPr/>
        </p:nvSpPr>
        <p:spPr>
          <a:xfrm>
            <a:off x="9006840" y="4864608"/>
            <a:ext cx="2407615" cy="868680"/>
          </a:xfrm>
          <a:prstGeom prst="rect">
            <a:avLst/>
          </a:prstGeom>
          <a:noFill/>
        </p:spPr>
        <p:txBody>
          <a:bodyPr wrap="square" lIns="0" tIns="0" rIns="0" bIns="0" anchor="t">
            <a:spAutoFit/>
          </a:bodyPr>
          <a:lstStyle/>
          <a:p>
            <a:pPr algn="l"/>
            <a:r>
              <a:rPr sz="1000" b="0">
                <a:latin typeface="Calibri"/>
              </a:rPr>
              <a:t>Unmatched targets use the sanctioned dummy_positive fallback only when SIIS names a concrete screen.</a:t>
            </a:r>
          </a:p>
        </p:txBody>
      </p:sp>
    </p:spTree>
    <p:extLst>
      <p:ext uri="{BB962C8B-B14F-4D97-AF65-F5344CB8AC3E}">
        <p14:creationId xmlns:p14="http://schemas.microsoft.com/office/powerpoint/2010/main" val="1993237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457200" y="320040"/>
            <a:ext cx="11277295" cy="685800"/>
          </a:xfrm>
        </p:spPr>
        <p:txBody>
          <a:bodyPr anchor="ctr"/>
          <a:lstStyle/>
          <a:p>
            <a:pPr>
              <a:spcAft>
                <a:spcPts val="500"/>
              </a:spcAft>
              <a:buSzPct val="100000"/>
            </a:pPr>
            <a:r>
              <a:rPr lang="en-US" sz="3000" b="1" dirty="0">
                <a:solidFill>
                  <a:srgbClr val="704EA6"/>
                </a:solidFill>
                <a:latin typeface="Calibri" pitchFamily="34" charset="0"/>
                <a:ea typeface="Calibri" pitchFamily="34" charset="-122"/>
                <a:cs typeface="Calibri" pitchFamily="34" charset="-120"/>
              </a:rPr>
              <a:t>What’s next</a:t>
            </a:r>
            <a:endParaRPr lang="en-US" sz="4400" b="1" dirty="0">
              <a:solidFill>
                <a:srgbClr val="704EA6"/>
              </a:solidFill>
            </a:endParaRPr>
          </a:p>
        </p:txBody>
      </p:sp>
      <p:cxnSp>
        <p:nvCxnSpPr>
          <p:cNvPr id="3" name="Connector 2"/>
          <p:cNvCxnSpPr/>
          <p:nvPr/>
        </p:nvCxnSpPr>
        <p:spPr>
          <a:xfrm>
            <a:off x="822959" y="1691640"/>
            <a:ext cx="10545776" cy="0"/>
          </a:xfrm>
          <a:prstGeom prst="line">
            <a:avLst/>
          </a:prstGeom>
          <a:ln w="38100">
            <a:solidFill>
              <a:srgbClr val="D9D3F0"/>
            </a:solidFill>
          </a:ln>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594360" y="1417320"/>
            <a:ext cx="548640" cy="54864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1</a:t>
            </a:r>
          </a:p>
        </p:txBody>
      </p:sp>
      <p:sp>
        <p:nvSpPr>
          <p:cNvPr id="5" name="Rounded Rectangle 4"/>
          <p:cNvSpPr/>
          <p:nvPr/>
        </p:nvSpPr>
        <p:spPr>
          <a:xfrm>
            <a:off x="548640" y="2240280"/>
            <a:ext cx="2567863" cy="3383280"/>
          </a:xfrm>
          <a:prstGeom prst="roundRect">
            <a:avLst>
              <a:gd name="adj" fmla="val 2848"/>
            </a:avLst>
          </a:prstGeom>
          <a:solidFill>
            <a:srgbClr val="F4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423160"/>
            <a:ext cx="2110663" cy="365760"/>
          </a:xfrm>
          <a:prstGeom prst="rect">
            <a:avLst/>
          </a:prstGeom>
          <a:noFill/>
        </p:spPr>
        <p:txBody>
          <a:bodyPr wrap="square" lIns="0" tIns="0" rIns="0" bIns="0" anchor="t">
            <a:spAutoFit/>
          </a:bodyPr>
          <a:lstStyle/>
          <a:p>
            <a:pPr algn="l"/>
            <a:r>
              <a:rPr sz="1800" b="1" i="0">
                <a:solidFill>
                  <a:srgbClr val="14142B"/>
                </a:solidFill>
                <a:latin typeface="Calibri"/>
              </a:rPr>
              <a:t>Grounded baseline</a:t>
            </a:r>
          </a:p>
        </p:txBody>
      </p:sp>
      <p:sp>
        <p:nvSpPr>
          <p:cNvPr id="7" name="TextBox 6"/>
          <p:cNvSpPr txBox="1"/>
          <p:nvPr/>
        </p:nvSpPr>
        <p:spPr>
          <a:xfrm>
            <a:off x="777240" y="2971800"/>
            <a:ext cx="2110663" cy="2560320"/>
          </a:xfrm>
          <a:prstGeom prst="rect">
            <a:avLst/>
          </a:prstGeom>
          <a:noFill/>
        </p:spPr>
        <p:txBody>
          <a:bodyPr wrap="square" lIns="0" tIns="0" rIns="0" bIns="0" anchor="t">
            <a:spAutoFit/>
          </a:bodyPr>
          <a:lstStyle/>
          <a:p>
            <a:pPr algn="l">
              <a:spcAft>
                <a:spcPts val="900"/>
              </a:spcAft>
            </a:pPr>
            <a:r>
              <a:rPr sz="1500" b="0" i="0">
                <a:latin typeface="Calibri"/>
              </a:rPr>
              <a:t>Already verified</a:t>
            </a:r>
          </a:p>
          <a:p>
            <a:r>
              <a:rPr sz="1500" b="0" i="0">
                <a:latin typeface="Calibri"/>
              </a:rPr>
              <a:t>104 automated tests</a:t>
            </a:r>
          </a:p>
          <a:p>
            <a:r>
              <a:rPr sz="1500" b="0" i="0">
                <a:latin typeface="Calibri"/>
              </a:rPr>
              <a:t>Query enrichment + grounded extraction</a:t>
            </a:r>
          </a:p>
          <a:p>
            <a:r>
              <a:rPr sz="1500" b="0" i="0">
                <a:latin typeface="Calibri"/>
              </a:rPr>
              <a:t>Deeplink resolver</a:t>
            </a:r>
          </a:p>
          <a:p>
            <a:r>
              <a:rPr sz="1500" b="0" i="0">
                <a:latin typeface="Calibri"/>
              </a:rPr>
              <a:t>Cache + firewall</a:t>
            </a:r>
          </a:p>
        </p:txBody>
      </p:sp>
      <p:sp>
        <p:nvSpPr>
          <p:cNvPr id="8" name="Oval 7"/>
          <p:cNvSpPr/>
          <p:nvPr/>
        </p:nvSpPr>
        <p:spPr>
          <a:xfrm>
            <a:off x="3436543" y="1417320"/>
            <a:ext cx="548640" cy="54864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2</a:t>
            </a:r>
          </a:p>
        </p:txBody>
      </p:sp>
      <p:sp>
        <p:nvSpPr>
          <p:cNvPr id="9" name="Rounded Rectangle 8"/>
          <p:cNvSpPr/>
          <p:nvPr/>
        </p:nvSpPr>
        <p:spPr>
          <a:xfrm>
            <a:off x="3390823" y="2240280"/>
            <a:ext cx="2567863" cy="3383280"/>
          </a:xfrm>
          <a:prstGeom prst="roundRect">
            <a:avLst>
              <a:gd name="adj" fmla="val 2848"/>
            </a:avLst>
          </a:prstGeom>
          <a:solidFill>
            <a:srgbClr val="F4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19423" y="2423160"/>
            <a:ext cx="2110663" cy="365760"/>
          </a:xfrm>
          <a:prstGeom prst="rect">
            <a:avLst/>
          </a:prstGeom>
          <a:noFill/>
        </p:spPr>
        <p:txBody>
          <a:bodyPr wrap="square" lIns="0" tIns="0" rIns="0" bIns="0" anchor="t">
            <a:spAutoFit/>
          </a:bodyPr>
          <a:lstStyle/>
          <a:p>
            <a:pPr algn="l"/>
            <a:r>
              <a:rPr sz="1800" b="1" i="0">
                <a:solidFill>
                  <a:srgbClr val="14142B"/>
                </a:solidFill>
                <a:latin typeface="Calibri"/>
              </a:rPr>
              <a:t>Next-Best-Evidence</a:t>
            </a:r>
          </a:p>
        </p:txBody>
      </p:sp>
      <p:sp>
        <p:nvSpPr>
          <p:cNvPr id="11" name="TextBox 10"/>
          <p:cNvSpPr txBox="1"/>
          <p:nvPr/>
        </p:nvSpPr>
        <p:spPr>
          <a:xfrm>
            <a:off x="3619423" y="2971800"/>
            <a:ext cx="2110663" cy="2560320"/>
          </a:xfrm>
          <a:prstGeom prst="rect">
            <a:avLst/>
          </a:prstGeom>
          <a:noFill/>
        </p:spPr>
        <p:txBody>
          <a:bodyPr wrap="square" lIns="0" tIns="0" rIns="0" bIns="0" anchor="t">
            <a:spAutoFit/>
          </a:bodyPr>
          <a:lstStyle/>
          <a:p>
            <a:pPr algn="l">
              <a:spcAft>
                <a:spcPts val="900"/>
              </a:spcAft>
            </a:pPr>
            <a:r>
              <a:rPr sz="1500" b="0" i="0">
                <a:latin typeface="Calibri"/>
              </a:rPr>
              <a:t>Expand NBE in product flow</a:t>
            </a:r>
          </a:p>
          <a:p>
            <a:r>
              <a:rPr sz="1500" b="0" i="0">
                <a:latin typeface="Calibri"/>
              </a:rPr>
              <a:t>Hypothesis space per complaint</a:t>
            </a:r>
          </a:p>
          <a:p>
            <a:r>
              <a:rPr sz="1500" b="0" i="0">
                <a:latin typeface="Calibri"/>
              </a:rPr>
              <a:t>EIG / cost scoring</a:t>
            </a:r>
          </a:p>
          <a:p>
            <a:r>
              <a:rPr sz="1500" b="0" i="0">
                <a:latin typeface="Calibri"/>
              </a:rPr>
              <a:t>Targeted question acquisition</a:t>
            </a:r>
          </a:p>
          <a:p>
            <a:r>
              <a:rPr sz="1500" b="0" i="0">
                <a:latin typeface="Calibri"/>
              </a:rPr>
              <a:t>Benchmark adaptive questioning</a:t>
            </a:r>
          </a:p>
        </p:txBody>
      </p:sp>
      <p:sp>
        <p:nvSpPr>
          <p:cNvPr id="12" name="Oval 11"/>
          <p:cNvSpPr/>
          <p:nvPr/>
        </p:nvSpPr>
        <p:spPr>
          <a:xfrm>
            <a:off x="6278727" y="1417320"/>
            <a:ext cx="548640" cy="54864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3</a:t>
            </a:r>
          </a:p>
        </p:txBody>
      </p:sp>
      <p:sp>
        <p:nvSpPr>
          <p:cNvPr id="13" name="Rounded Rectangle 12"/>
          <p:cNvSpPr/>
          <p:nvPr/>
        </p:nvSpPr>
        <p:spPr>
          <a:xfrm>
            <a:off x="6233007" y="2240280"/>
            <a:ext cx="2567863" cy="3383280"/>
          </a:xfrm>
          <a:prstGeom prst="roundRect">
            <a:avLst>
              <a:gd name="adj" fmla="val 2848"/>
            </a:avLst>
          </a:prstGeom>
          <a:solidFill>
            <a:srgbClr val="F4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61607" y="2423160"/>
            <a:ext cx="2110663" cy="365760"/>
          </a:xfrm>
          <a:prstGeom prst="rect">
            <a:avLst/>
          </a:prstGeom>
          <a:noFill/>
        </p:spPr>
        <p:txBody>
          <a:bodyPr wrap="square" lIns="0" tIns="0" rIns="0" bIns="0" anchor="t">
            <a:spAutoFit/>
          </a:bodyPr>
          <a:lstStyle/>
          <a:p>
            <a:pPr algn="l"/>
            <a:r>
              <a:rPr sz="1800" b="1" i="0">
                <a:solidFill>
                  <a:srgbClr val="14142B"/>
                </a:solidFill>
                <a:latin typeface="Calibri"/>
              </a:rPr>
              <a:t>Prove it</a:t>
            </a:r>
          </a:p>
        </p:txBody>
      </p:sp>
      <p:sp>
        <p:nvSpPr>
          <p:cNvPr id="15" name="TextBox 14"/>
          <p:cNvSpPr txBox="1"/>
          <p:nvPr/>
        </p:nvSpPr>
        <p:spPr>
          <a:xfrm>
            <a:off x="6461607" y="2971800"/>
            <a:ext cx="2110663" cy="2560320"/>
          </a:xfrm>
          <a:prstGeom prst="rect">
            <a:avLst/>
          </a:prstGeom>
          <a:noFill/>
        </p:spPr>
        <p:txBody>
          <a:bodyPr wrap="square" lIns="0" tIns="0" rIns="0" bIns="0" anchor="t">
            <a:spAutoFit/>
          </a:bodyPr>
          <a:lstStyle/>
          <a:p>
            <a:pPr algn="l">
              <a:spcAft>
                <a:spcPts val="900"/>
              </a:spcAft>
            </a:pPr>
            <a:r>
              <a:rPr sz="1500" b="0" i="0">
                <a:latin typeface="Calibri"/>
              </a:rPr>
              <a:t>Prove and extend</a:t>
            </a:r>
          </a:p>
          <a:p>
            <a:r>
              <a:rPr sz="1500" b="0" i="0">
                <a:latin typeface="Calibri"/>
              </a:rPr>
              <a:t>Unseen-SIIS evaluation</a:t>
            </a:r>
          </a:p>
          <a:p>
            <a:r>
              <a:rPr sz="1500" b="0" i="0">
                <a:latin typeface="Calibri"/>
              </a:rPr>
              <a:t>Latency and cost tracking</a:t>
            </a:r>
          </a:p>
          <a:p>
            <a:r>
              <a:rPr sz="1500" b="0" i="0">
                <a:latin typeface="Calibri"/>
              </a:rPr>
              <a:t>Demo polish</a:t>
            </a:r>
          </a:p>
          <a:p>
            <a:r>
              <a:rPr sz="1500" b="0" i="0">
                <a:latin typeface="Calibri"/>
              </a:rPr>
              <a:t>Final submission gate</a:t>
            </a:r>
          </a:p>
        </p:txBody>
      </p:sp>
      <p:sp>
        <p:nvSpPr>
          <p:cNvPr id="16" name="Oval 15"/>
          <p:cNvSpPr/>
          <p:nvPr/>
        </p:nvSpPr>
        <p:spPr>
          <a:xfrm>
            <a:off x="9120911" y="1417320"/>
            <a:ext cx="548640" cy="54864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4</a:t>
            </a:r>
          </a:p>
        </p:txBody>
      </p:sp>
      <p:sp>
        <p:nvSpPr>
          <p:cNvPr id="17" name="Rounded Rectangle 16"/>
          <p:cNvSpPr/>
          <p:nvPr/>
        </p:nvSpPr>
        <p:spPr>
          <a:xfrm>
            <a:off x="9075191" y="2240280"/>
            <a:ext cx="2567863" cy="3383280"/>
          </a:xfrm>
          <a:prstGeom prst="roundRect">
            <a:avLst>
              <a:gd name="adj" fmla="val 2848"/>
            </a:avLst>
          </a:prstGeom>
          <a:solidFill>
            <a:srgbClr val="F4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303791" y="2423160"/>
            <a:ext cx="2110663" cy="365760"/>
          </a:xfrm>
          <a:prstGeom prst="rect">
            <a:avLst/>
          </a:prstGeom>
          <a:noFill/>
        </p:spPr>
        <p:txBody>
          <a:bodyPr wrap="square" lIns="0" tIns="0" rIns="0" bIns="0" anchor="t">
            <a:spAutoFit/>
          </a:bodyPr>
          <a:lstStyle/>
          <a:p>
            <a:pPr algn="l"/>
            <a:r>
              <a:rPr sz="1800" b="1" i="0">
                <a:solidFill>
                  <a:srgbClr val="14142B"/>
                </a:solidFill>
                <a:latin typeface="Calibri"/>
              </a:rPr>
              <a:t>Production scale</a:t>
            </a:r>
          </a:p>
        </p:txBody>
      </p:sp>
      <p:sp>
        <p:nvSpPr>
          <p:cNvPr id="19" name="TextBox 18"/>
          <p:cNvSpPr txBox="1"/>
          <p:nvPr/>
        </p:nvSpPr>
        <p:spPr>
          <a:xfrm>
            <a:off x="9303791" y="2971800"/>
            <a:ext cx="2110663" cy="2560320"/>
          </a:xfrm>
          <a:prstGeom prst="rect">
            <a:avLst/>
          </a:prstGeom>
          <a:noFill/>
        </p:spPr>
        <p:txBody>
          <a:bodyPr wrap="square" lIns="0" tIns="0" rIns="0" bIns="0" anchor="t">
            <a:spAutoFit/>
          </a:bodyPr>
          <a:lstStyle/>
          <a:p>
            <a:pPr algn="l">
              <a:spcAft>
                <a:spcPts val="900"/>
              </a:spcAft>
            </a:pPr>
            <a:r>
              <a:rPr sz="1500" b="0" i="0">
                <a:latin typeface="Calibri"/>
              </a:rPr>
              <a:t>Production scale</a:t>
            </a:r>
          </a:p>
          <a:p>
            <a:r>
              <a:rPr sz="1500" b="0" i="0">
                <a:latin typeface="Calibri"/>
              </a:rPr>
              <a:t>Larger catalog + retrieval index</a:t>
            </a:r>
          </a:p>
          <a:p>
            <a:r>
              <a:rPr sz="1500" b="0" i="0">
                <a:latin typeface="Calibri"/>
              </a:rPr>
              <a:t>Production cache and telemetry</a:t>
            </a:r>
          </a:p>
          <a:p>
            <a:r>
              <a:rPr sz="1500" b="0" i="0">
                <a:latin typeface="Calibri"/>
              </a:rPr>
              <a:t>Scalable service deployment</a:t>
            </a:r>
          </a:p>
          <a:p>
            <a:r>
              <a:rPr sz="1500" b="0" i="0">
                <a:latin typeface="Calibri"/>
              </a:rPr>
              <a:t>Only where measurements justify it</a:t>
            </a:r>
          </a:p>
        </p:txBody>
      </p:sp>
    </p:spTree>
    <p:extLst>
      <p:ext uri="{BB962C8B-B14F-4D97-AF65-F5344CB8AC3E}">
        <p14:creationId xmlns:p14="http://schemas.microsoft.com/office/powerpoint/2010/main" val="3985914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457200" y="320040"/>
            <a:ext cx="11277295" cy="685800"/>
          </a:xfrm>
        </p:spPr>
        <p:txBody>
          <a:bodyPr anchor="ctr"/>
          <a:lstStyle/>
          <a:p>
            <a:pPr>
              <a:spcAft>
                <a:spcPts val="500"/>
              </a:spcAft>
              <a:buSzPct val="100000"/>
            </a:pPr>
            <a:r>
              <a:rPr lang="en-US" sz="3000" b="1" dirty="0">
                <a:solidFill>
                  <a:srgbClr val="704EA6"/>
                </a:solidFill>
                <a:latin typeface="Calibri" pitchFamily="34" charset="0"/>
                <a:ea typeface="Calibri" pitchFamily="34" charset="-122"/>
                <a:cs typeface="Calibri" pitchFamily="34" charset="-120"/>
              </a:rPr>
              <a:t>Brownie points slide( differentiation)</a:t>
            </a:r>
            <a:endParaRPr lang="en-US" sz="4400" b="1" dirty="0">
              <a:solidFill>
                <a:srgbClr val="704EA6"/>
              </a:solidFill>
            </a:endParaRPr>
          </a:p>
        </p:txBody>
      </p:sp>
      <p:sp>
        <p:nvSpPr>
          <p:cNvPr id="3" name="Rounded Rectangle 2"/>
          <p:cNvSpPr/>
          <p:nvPr/>
        </p:nvSpPr>
        <p:spPr>
          <a:xfrm>
            <a:off x="548640" y="1280160"/>
            <a:ext cx="3515258" cy="1600200"/>
          </a:xfrm>
          <a:prstGeom prst="roundRect">
            <a:avLst>
              <a:gd name="adj" fmla="val 4571"/>
            </a:avLst>
          </a:prstGeom>
          <a:solidFill>
            <a:srgbClr val="F4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49808" y="1481328"/>
            <a:ext cx="411480" cy="41148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1</a:t>
            </a:r>
          </a:p>
        </p:txBody>
      </p:sp>
      <p:sp>
        <p:nvSpPr>
          <p:cNvPr id="5" name="TextBox 4"/>
          <p:cNvSpPr txBox="1"/>
          <p:nvPr/>
        </p:nvSpPr>
        <p:spPr>
          <a:xfrm>
            <a:off x="1325880" y="1481328"/>
            <a:ext cx="2600858" cy="411480"/>
          </a:xfrm>
          <a:prstGeom prst="rect">
            <a:avLst/>
          </a:prstGeom>
          <a:noFill/>
        </p:spPr>
        <p:txBody>
          <a:bodyPr wrap="square" lIns="0" tIns="0" rIns="0" bIns="0" anchor="ctr">
            <a:spAutoFit/>
          </a:bodyPr>
          <a:lstStyle/>
          <a:p>
            <a:pPr algn="l"/>
            <a:r>
              <a:rPr sz="1550" b="1" i="0">
                <a:solidFill>
                  <a:srgbClr val="14142B"/>
                </a:solidFill>
                <a:latin typeface="Calibri"/>
              </a:rPr>
              <a:t>Evidence-grounding firewall</a:t>
            </a:r>
          </a:p>
        </p:txBody>
      </p:sp>
      <p:sp>
        <p:nvSpPr>
          <p:cNvPr id="6" name="TextBox 5"/>
          <p:cNvSpPr txBox="1"/>
          <p:nvPr/>
        </p:nvSpPr>
        <p:spPr>
          <a:xfrm>
            <a:off x="777240" y="2057400"/>
            <a:ext cx="3058058" cy="777240"/>
          </a:xfrm>
          <a:prstGeom prst="rect">
            <a:avLst/>
          </a:prstGeom>
          <a:noFill/>
        </p:spPr>
        <p:txBody>
          <a:bodyPr wrap="square" lIns="0" tIns="0" rIns="0" bIns="0" anchor="t">
            <a:spAutoFit/>
          </a:bodyPr>
          <a:lstStyle/>
          <a:p>
            <a:pPr algn="l"/>
            <a:r>
              <a:rPr sz="1400" b="0" i="0">
                <a:solidFill>
                  <a:srgbClr val="555570"/>
                </a:solidFill>
                <a:latin typeface="Calibri"/>
              </a:rPr>
              <a:t>A valid JSON answer is still rejected if SIIS does not support it.</a:t>
            </a:r>
          </a:p>
        </p:txBody>
      </p:sp>
      <p:sp>
        <p:nvSpPr>
          <p:cNvPr id="7" name="Rounded Rectangle 6"/>
          <p:cNvSpPr/>
          <p:nvPr/>
        </p:nvSpPr>
        <p:spPr>
          <a:xfrm>
            <a:off x="4338218" y="1280160"/>
            <a:ext cx="3515258" cy="1600200"/>
          </a:xfrm>
          <a:prstGeom prst="roundRect">
            <a:avLst>
              <a:gd name="adj" fmla="val 4571"/>
            </a:avLst>
          </a:prstGeom>
          <a:solidFill>
            <a:srgbClr val="F4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4539386" y="1481328"/>
            <a:ext cx="411480" cy="41148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2</a:t>
            </a:r>
          </a:p>
        </p:txBody>
      </p:sp>
      <p:sp>
        <p:nvSpPr>
          <p:cNvPr id="9" name="TextBox 8"/>
          <p:cNvSpPr txBox="1"/>
          <p:nvPr/>
        </p:nvSpPr>
        <p:spPr>
          <a:xfrm>
            <a:off x="5115458" y="1481328"/>
            <a:ext cx="2600858" cy="411480"/>
          </a:xfrm>
          <a:prstGeom prst="rect">
            <a:avLst/>
          </a:prstGeom>
          <a:noFill/>
        </p:spPr>
        <p:txBody>
          <a:bodyPr wrap="square" lIns="0" tIns="0" rIns="0" bIns="0" anchor="ctr">
            <a:spAutoFit/>
          </a:bodyPr>
          <a:lstStyle/>
          <a:p>
            <a:pPr algn="l"/>
            <a:r>
              <a:rPr sz="1550" b="1" i="0">
                <a:solidFill>
                  <a:srgbClr val="14142B"/>
                </a:solidFill>
                <a:latin typeface="Calibri"/>
              </a:rPr>
              <a:t>Safe deterministic fallback</a:t>
            </a:r>
          </a:p>
        </p:txBody>
      </p:sp>
      <p:sp>
        <p:nvSpPr>
          <p:cNvPr id="10" name="TextBox 9"/>
          <p:cNvSpPr txBox="1"/>
          <p:nvPr/>
        </p:nvSpPr>
        <p:spPr>
          <a:xfrm>
            <a:off x="4566818" y="2057400"/>
            <a:ext cx="3058058" cy="777240"/>
          </a:xfrm>
          <a:prstGeom prst="rect">
            <a:avLst/>
          </a:prstGeom>
          <a:noFill/>
        </p:spPr>
        <p:txBody>
          <a:bodyPr wrap="square" lIns="0" tIns="0" rIns="0" bIns="0" anchor="t">
            <a:spAutoFit/>
          </a:bodyPr>
          <a:lstStyle/>
          <a:p>
            <a:pPr algn="l"/>
            <a:r>
              <a:rPr sz="1400" b="0" i="0">
                <a:solidFill>
                  <a:srgbClr val="555570"/>
                </a:solidFill>
                <a:latin typeface="Calibri"/>
              </a:rPr>
              <a:t>Rebuilds from SIIS instead of generic filler steps.</a:t>
            </a:r>
          </a:p>
        </p:txBody>
      </p:sp>
      <p:sp>
        <p:nvSpPr>
          <p:cNvPr id="11" name="Rounded Rectangle 10"/>
          <p:cNvSpPr/>
          <p:nvPr/>
        </p:nvSpPr>
        <p:spPr>
          <a:xfrm>
            <a:off x="8127796" y="1280160"/>
            <a:ext cx="3515258" cy="1600200"/>
          </a:xfrm>
          <a:prstGeom prst="roundRect">
            <a:avLst>
              <a:gd name="adj" fmla="val 4571"/>
            </a:avLst>
          </a:prstGeom>
          <a:solidFill>
            <a:srgbClr val="F4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328964" y="1481328"/>
            <a:ext cx="411480" cy="41148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3</a:t>
            </a:r>
          </a:p>
        </p:txBody>
      </p:sp>
      <p:sp>
        <p:nvSpPr>
          <p:cNvPr id="13" name="TextBox 12"/>
          <p:cNvSpPr txBox="1"/>
          <p:nvPr/>
        </p:nvSpPr>
        <p:spPr>
          <a:xfrm>
            <a:off x="8905036" y="1481328"/>
            <a:ext cx="2600858" cy="411480"/>
          </a:xfrm>
          <a:prstGeom prst="rect">
            <a:avLst/>
          </a:prstGeom>
          <a:noFill/>
        </p:spPr>
        <p:txBody>
          <a:bodyPr wrap="square" lIns="0" tIns="0" rIns="0" bIns="0" anchor="ctr">
            <a:spAutoFit/>
          </a:bodyPr>
          <a:lstStyle/>
          <a:p>
            <a:pPr algn="l"/>
            <a:r>
              <a:rPr sz="1550" b="1" i="0">
                <a:solidFill>
                  <a:srgbClr val="14142B"/>
                </a:solidFill>
                <a:latin typeface="Calibri"/>
              </a:rPr>
              <a:t>Adversarial-ready</a:t>
            </a:r>
          </a:p>
        </p:txBody>
      </p:sp>
      <p:sp>
        <p:nvSpPr>
          <p:cNvPr id="14" name="TextBox 13"/>
          <p:cNvSpPr txBox="1"/>
          <p:nvPr/>
        </p:nvSpPr>
        <p:spPr>
          <a:xfrm>
            <a:off x="8356396" y="2057400"/>
            <a:ext cx="3058058" cy="777240"/>
          </a:xfrm>
          <a:prstGeom prst="rect">
            <a:avLst/>
          </a:prstGeom>
          <a:noFill/>
        </p:spPr>
        <p:txBody>
          <a:bodyPr wrap="square" lIns="0" tIns="0" rIns="0" bIns="0" anchor="t">
            <a:spAutoFit/>
          </a:bodyPr>
          <a:lstStyle/>
          <a:p>
            <a:pPr algn="l"/>
            <a:r>
              <a:rPr sz="1400" b="0" i="0">
                <a:solidFill>
                  <a:srgbClr val="555570"/>
                </a:solidFill>
                <a:latin typeface="Calibri"/>
              </a:rPr>
              <a:t>Tests for prompt injection, URL injection, malformed SIIS.</a:t>
            </a:r>
          </a:p>
        </p:txBody>
      </p:sp>
      <p:sp>
        <p:nvSpPr>
          <p:cNvPr id="15" name="Rounded Rectangle 14"/>
          <p:cNvSpPr/>
          <p:nvPr/>
        </p:nvSpPr>
        <p:spPr>
          <a:xfrm>
            <a:off x="548640" y="3154679"/>
            <a:ext cx="3515258" cy="1600200"/>
          </a:xfrm>
          <a:prstGeom prst="roundRect">
            <a:avLst>
              <a:gd name="adj" fmla="val 4571"/>
            </a:avLst>
          </a:prstGeom>
          <a:solidFill>
            <a:srgbClr val="F4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49808" y="3355848"/>
            <a:ext cx="411480" cy="41148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4</a:t>
            </a:r>
          </a:p>
        </p:txBody>
      </p:sp>
      <p:sp>
        <p:nvSpPr>
          <p:cNvPr id="17" name="TextBox 16"/>
          <p:cNvSpPr txBox="1"/>
          <p:nvPr/>
        </p:nvSpPr>
        <p:spPr>
          <a:xfrm>
            <a:off x="1325880" y="3355848"/>
            <a:ext cx="2600858" cy="411480"/>
          </a:xfrm>
          <a:prstGeom prst="rect">
            <a:avLst/>
          </a:prstGeom>
          <a:noFill/>
        </p:spPr>
        <p:txBody>
          <a:bodyPr wrap="square" lIns="0" tIns="0" rIns="0" bIns="0" anchor="ctr">
            <a:spAutoFit/>
          </a:bodyPr>
          <a:lstStyle/>
          <a:p>
            <a:pPr algn="l"/>
            <a:r>
              <a:rPr sz="1550" b="1" i="0">
                <a:solidFill>
                  <a:srgbClr val="14142B"/>
                </a:solidFill>
                <a:latin typeface="Calibri"/>
              </a:rPr>
              <a:t>Cache isolation</a:t>
            </a:r>
          </a:p>
        </p:txBody>
      </p:sp>
      <p:sp>
        <p:nvSpPr>
          <p:cNvPr id="18" name="TextBox 17"/>
          <p:cNvSpPr txBox="1"/>
          <p:nvPr/>
        </p:nvSpPr>
        <p:spPr>
          <a:xfrm>
            <a:off x="777240" y="3931920"/>
            <a:ext cx="3058058" cy="777240"/>
          </a:xfrm>
          <a:prstGeom prst="rect">
            <a:avLst/>
          </a:prstGeom>
          <a:noFill/>
        </p:spPr>
        <p:txBody>
          <a:bodyPr wrap="square" lIns="0" tIns="0" rIns="0" bIns="0" anchor="t">
            <a:spAutoFit/>
          </a:bodyPr>
          <a:lstStyle/>
          <a:p>
            <a:pPr algn="l"/>
            <a:r>
              <a:rPr sz="1400" b="0" i="0">
                <a:solidFill>
                  <a:srgbClr val="555570"/>
                </a:solidFill>
                <a:latin typeface="Calibri"/>
              </a:rPr>
              <a:t>Key covers intent, full SIIS, engine and catalog version.</a:t>
            </a:r>
          </a:p>
        </p:txBody>
      </p:sp>
      <p:sp>
        <p:nvSpPr>
          <p:cNvPr id="19" name="Rounded Rectangle 18"/>
          <p:cNvSpPr/>
          <p:nvPr/>
        </p:nvSpPr>
        <p:spPr>
          <a:xfrm>
            <a:off x="4338218" y="3154679"/>
            <a:ext cx="3515258" cy="1600200"/>
          </a:xfrm>
          <a:prstGeom prst="roundRect">
            <a:avLst>
              <a:gd name="adj" fmla="val 4571"/>
            </a:avLst>
          </a:prstGeom>
          <a:solidFill>
            <a:srgbClr val="F4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4539386" y="3355848"/>
            <a:ext cx="411480" cy="41148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5</a:t>
            </a:r>
          </a:p>
        </p:txBody>
      </p:sp>
      <p:sp>
        <p:nvSpPr>
          <p:cNvPr id="21" name="TextBox 20"/>
          <p:cNvSpPr txBox="1"/>
          <p:nvPr/>
        </p:nvSpPr>
        <p:spPr>
          <a:xfrm>
            <a:off x="5115458" y="3355848"/>
            <a:ext cx="2600858" cy="411480"/>
          </a:xfrm>
          <a:prstGeom prst="rect">
            <a:avLst/>
          </a:prstGeom>
          <a:noFill/>
        </p:spPr>
        <p:txBody>
          <a:bodyPr wrap="square" lIns="0" tIns="0" rIns="0" bIns="0" anchor="ctr">
            <a:spAutoFit/>
          </a:bodyPr>
          <a:lstStyle/>
          <a:p>
            <a:pPr algn="l"/>
            <a:r>
              <a:rPr sz="1550" b="1" i="0">
                <a:solidFill>
                  <a:srgbClr val="14142B"/>
                </a:solidFill>
                <a:latin typeface="Calibri"/>
              </a:rPr>
              <a:t>LLM only where needed</a:t>
            </a:r>
          </a:p>
        </p:txBody>
      </p:sp>
      <p:sp>
        <p:nvSpPr>
          <p:cNvPr id="22" name="TextBox 21"/>
          <p:cNvSpPr txBox="1"/>
          <p:nvPr/>
        </p:nvSpPr>
        <p:spPr>
          <a:xfrm>
            <a:off x="4566818" y="3931920"/>
            <a:ext cx="3058058" cy="777240"/>
          </a:xfrm>
          <a:prstGeom prst="rect">
            <a:avLst/>
          </a:prstGeom>
          <a:noFill/>
        </p:spPr>
        <p:txBody>
          <a:bodyPr wrap="square" lIns="0" tIns="0" rIns="0" bIns="0" anchor="t">
            <a:spAutoFit/>
          </a:bodyPr>
          <a:lstStyle/>
          <a:p>
            <a:pPr algn="l"/>
            <a:r>
              <a:rPr sz="1400" b="0" i="0">
                <a:solidFill>
                  <a:srgbClr val="555570"/>
                </a:solidFill>
                <a:latin typeface="Calibri"/>
              </a:rPr>
              <a:t>Deterministic checks for policy; lower cost and latency.</a:t>
            </a:r>
          </a:p>
        </p:txBody>
      </p:sp>
      <p:sp>
        <p:nvSpPr>
          <p:cNvPr id="23" name="Rounded Rectangle 22"/>
          <p:cNvSpPr/>
          <p:nvPr/>
        </p:nvSpPr>
        <p:spPr>
          <a:xfrm>
            <a:off x="8127796" y="3154679"/>
            <a:ext cx="3515258" cy="1600200"/>
          </a:xfrm>
          <a:prstGeom prst="roundRect">
            <a:avLst>
              <a:gd name="adj" fmla="val 4571"/>
            </a:avLst>
          </a:prstGeom>
          <a:solidFill>
            <a:srgbClr val="F4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8328964" y="3355848"/>
            <a:ext cx="411480" cy="41148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6</a:t>
            </a:r>
          </a:p>
        </p:txBody>
      </p:sp>
      <p:sp>
        <p:nvSpPr>
          <p:cNvPr id="25" name="TextBox 24"/>
          <p:cNvSpPr txBox="1"/>
          <p:nvPr/>
        </p:nvSpPr>
        <p:spPr>
          <a:xfrm>
            <a:off x="8905036" y="3355848"/>
            <a:ext cx="2600858" cy="411480"/>
          </a:xfrm>
          <a:prstGeom prst="rect">
            <a:avLst/>
          </a:prstGeom>
          <a:noFill/>
        </p:spPr>
        <p:txBody>
          <a:bodyPr wrap="square" lIns="0" tIns="0" rIns="0" bIns="0" anchor="ctr">
            <a:spAutoFit/>
          </a:bodyPr>
          <a:lstStyle/>
          <a:p>
            <a:pPr algn="l"/>
            <a:r>
              <a:rPr sz="1550" b="1" i="0">
                <a:solidFill>
                  <a:srgbClr val="14142B"/>
                </a:solidFill>
                <a:latin typeface="Calibri"/>
              </a:rPr>
              <a:t>Honest evaluation</a:t>
            </a:r>
          </a:p>
        </p:txBody>
      </p:sp>
      <p:sp>
        <p:nvSpPr>
          <p:cNvPr id="26" name="TextBox 25"/>
          <p:cNvSpPr txBox="1"/>
          <p:nvPr/>
        </p:nvSpPr>
        <p:spPr>
          <a:xfrm>
            <a:off x="8356396" y="3931920"/>
            <a:ext cx="3058058" cy="777240"/>
          </a:xfrm>
          <a:prstGeom prst="rect">
            <a:avLst/>
          </a:prstGeom>
          <a:noFill/>
        </p:spPr>
        <p:txBody>
          <a:bodyPr wrap="square" lIns="0" tIns="0" rIns="0" bIns="0" anchor="t">
            <a:spAutoFit/>
          </a:bodyPr>
          <a:lstStyle/>
          <a:p>
            <a:pPr algn="l"/>
            <a:r>
              <a:rPr sz="1400" b="0" i="0">
                <a:latin typeface="Calibri"/>
              </a:rPr>
              <a:t>Measured percentiles and sample counts; implemented vs. planned features are explicitly separated.</a:t>
            </a:r>
          </a:p>
        </p:txBody>
      </p:sp>
      <p:sp>
        <p:nvSpPr>
          <p:cNvPr id="27" name="Rounded Rectangle 26"/>
          <p:cNvSpPr/>
          <p:nvPr/>
        </p:nvSpPr>
        <p:spPr>
          <a:xfrm>
            <a:off x="548640" y="5120640"/>
            <a:ext cx="11094415" cy="914400"/>
          </a:xfrm>
          <a:prstGeom prst="roundRect">
            <a:avLst>
              <a:gd name="adj" fmla="val 8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22959" y="5120640"/>
            <a:ext cx="10545775" cy="914400"/>
          </a:xfrm>
          <a:prstGeom prst="rect">
            <a:avLst/>
          </a:prstGeom>
          <a:noFill/>
        </p:spPr>
        <p:txBody>
          <a:bodyPr wrap="square" lIns="0" tIns="0" rIns="0" bIns="0" anchor="ctr">
            <a:spAutoFit/>
          </a:bodyPr>
          <a:lstStyle/>
          <a:p>
            <a:pPr algn="ctr"/>
            <a:r>
              <a:rPr sz="2200" b="1" i="0">
                <a:latin typeface="Calibri"/>
              </a:rPr>
              <a:t>Understand → Verify → Ask when evidence is insufficient → Resolve → Execute</a:t>
            </a:r>
          </a:p>
        </p:txBody>
      </p:sp>
    </p:spTree>
    <p:extLst>
      <p:ext uri="{BB962C8B-B14F-4D97-AF65-F5344CB8AC3E}">
        <p14:creationId xmlns:p14="http://schemas.microsoft.com/office/powerpoint/2010/main" val="2095517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4E28A-8ABF-4E15-B9E1-B0F49C0EE29F}"/>
              </a:ext>
            </a:extLst>
          </p:cNvPr>
          <p:cNvSpPr>
            <a:spLocks noGrp="1"/>
          </p:cNvSpPr>
          <p:nvPr>
            <p:ph type="title"/>
          </p:nvPr>
        </p:nvSpPr>
        <p:spPr/>
        <p:txBody>
          <a:bodyPr/>
          <a:lstStyle/>
          <a:p>
            <a:r>
              <a:rPr lang="en-IN" b="1" dirty="0">
                <a:solidFill>
                  <a:srgbClr val="704EA6"/>
                </a:solidFill>
                <a:latin typeface="+mn-lt"/>
              </a:rPr>
              <a:t>Checklist- Updated on Public GitHub</a:t>
            </a:r>
          </a:p>
        </p:txBody>
      </p:sp>
      <p:sp>
        <p:nvSpPr>
          <p:cNvPr id="3" name="Content Placeholder 2">
            <a:extLst>
              <a:ext uri="{FF2B5EF4-FFF2-40B4-BE49-F238E27FC236}">
                <a16:creationId xmlns:a16="http://schemas.microsoft.com/office/drawing/2014/main" id="{DAB3E6F6-9D00-4480-90E6-EC3C876F2628}"/>
              </a:ext>
            </a:extLst>
          </p:cNvPr>
          <p:cNvSpPr>
            <a:spLocks noGrp="1"/>
          </p:cNvSpPr>
          <p:nvPr>
            <p:ph idx="1"/>
          </p:nvPr>
        </p:nvSpPr>
        <p:spPr/>
        <p:txBody>
          <a:bodyPr/>
          <a:lstStyle/>
          <a:p>
            <a:pPr marL="177800" indent="-177800">
              <a:spcAft>
                <a:spcPts val="500"/>
              </a:spcAft>
              <a:buSzPct val="100000"/>
              <a:buChar char="•"/>
            </a:pPr>
            <a:r>
              <a:rPr sz="2800" dirty="0">
                <a:latin typeface="Calibri"/>
              </a:rPr>
              <a:t>Checklist — Project Submission</a:t>
            </a:r>
            <a:endParaRPr lang="en-US" sz="2800" dirty="0"/>
          </a:p>
          <a:p>
            <a:r>
              <a:rPr sz="2800" dirty="0">
                <a:latin typeface="Calibri"/>
              </a:rPr>
              <a:t>Working prototype code — Public GitHub: YES</a:t>
            </a:r>
          </a:p>
          <a:p>
            <a:r>
              <a:rPr sz="2800" dirty="0">
                <a:latin typeface="Calibri"/>
              </a:rPr>
              <a:t>README with reproducible setup instructions: YES</a:t>
            </a:r>
          </a:p>
          <a:p>
            <a:r>
              <a:rPr sz="2800" dirty="0">
                <a:latin typeface="Calibri"/>
              </a:rPr>
              <a:t>Demo video (max 5 minutes): </a:t>
            </a:r>
            <a:r>
              <a:rPr lang="en-IN"/>
              <a:t>https://youtu.be/LECs04dMLfk</a:t>
            </a:r>
            <a:endParaRPr sz="2800">
              <a:latin typeface="Calibri"/>
            </a:endParaRPr>
          </a:p>
          <a:p>
            <a:r>
              <a:rPr sz="2800" dirty="0">
                <a:latin typeface="Calibri"/>
              </a:rPr>
              <a:t>Presentation file (PPT/PDF): YES</a:t>
            </a:r>
          </a:p>
          <a:p>
            <a:r>
              <a:rPr sz="2800" dirty="0">
                <a:latin typeface="Calibri"/>
              </a:rPr>
              <a:t>Repository: github.com/</a:t>
            </a:r>
            <a:r>
              <a:rPr sz="2800" dirty="0" err="1">
                <a:latin typeface="Calibri"/>
              </a:rPr>
              <a:t>DeepakReddyCodes</a:t>
            </a:r>
            <a:r>
              <a:rPr sz="2800" dirty="0">
                <a:latin typeface="Calibri"/>
              </a:rPr>
              <a:t>/samsung-theme2-troubleshooting</a:t>
            </a:r>
          </a:p>
        </p:txBody>
      </p:sp>
    </p:spTree>
    <p:extLst>
      <p:ext uri="{BB962C8B-B14F-4D97-AF65-F5344CB8AC3E}">
        <p14:creationId xmlns:p14="http://schemas.microsoft.com/office/powerpoint/2010/main" val="180699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1046181" y="3730214"/>
            <a:ext cx="6766560" cy="868680"/>
          </a:xfrm>
          <a:prstGeom prst="rect">
            <a:avLst/>
          </a:prstGeom>
          <a:noFill/>
          <a:ln/>
        </p:spPr>
        <p:txBody>
          <a:bodyPr wrap="square" lIns="0" tIns="0" rIns="0" bIns="0" rtlCol="0" anchor="ctr"/>
          <a:lstStyle/>
          <a:p>
            <a:pPr marL="0" indent="0">
              <a:buNone/>
            </a:pPr>
            <a:r>
              <a:rPr lang="en-US" sz="4600" b="1" dirty="0">
                <a:solidFill>
                  <a:srgbClr val="14142B"/>
                </a:solidFill>
                <a:latin typeface="Arial" pitchFamily="34" charset="0"/>
                <a:ea typeface="Arial" pitchFamily="34" charset="-122"/>
                <a:cs typeface="Arial" pitchFamily="34" charset="-120"/>
              </a:rPr>
              <a:t>Thank you</a:t>
            </a:r>
            <a:endParaRPr lang="en-US" sz="4600" dirty="0"/>
          </a:p>
        </p:txBody>
      </p:sp>
      <p:sp>
        <p:nvSpPr>
          <p:cNvPr id="28" name="Text 25"/>
          <p:cNvSpPr txBox="1"/>
          <p:nvPr/>
        </p:nvSpPr>
        <p:spPr>
          <a:xfrm>
            <a:off x="777240" y="5897880"/>
            <a:ext cx="10607040" cy="292608"/>
          </a:xfrm>
          <a:prstGeom prst="rect">
            <a:avLst/>
          </a:prstGeom>
          <a:noFill/>
          <a:ln/>
        </p:spPr>
        <p:txBody>
          <a:bodyPr wrap="square" lIns="0" tIns="0" rIns="0" bIns="0" rtlCol="0" anchor="ctr"/>
          <a:lstStyle/>
          <a:p>
            <a:pPr marL="0" indent="0">
              <a:buNone/>
            </a:pPr>
            <a:r>
              <a:rPr sz="1100">
                <a:latin typeface="Calibri"/>
              </a:rPr>
              <a:t>MSRIT_Git_Wrecked_Theme2  •  Samsung PRISM GenAI Hackathon 2026–27</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66</TotalTime>
  <Words>1861</Words>
  <Application>Microsoft Office PowerPoint</Application>
  <PresentationFormat>Widescreen</PresentationFormat>
  <Paragraphs>280</Paragraphs>
  <Slides>12</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Courier New</vt:lpstr>
      <vt:lpstr>Office Theme</vt:lpstr>
      <vt:lpstr>PowerPoint Presentation</vt:lpstr>
      <vt:lpstr>Theme</vt:lpstr>
      <vt:lpstr>Existing Solutions &amp; Gaps</vt:lpstr>
      <vt:lpstr>Our Solutions &amp; Architecture Diagram</vt:lpstr>
      <vt:lpstr>Demo &amp; Product Walkthrough</vt:lpstr>
      <vt:lpstr>Tools and tech stack used</vt:lpstr>
      <vt:lpstr>Impact &amp; Use case</vt:lpstr>
      <vt:lpstr>Innovation highlights, results and limitations</vt:lpstr>
      <vt:lpstr>What’s next</vt:lpstr>
      <vt:lpstr>Brownie points slide( differentiation)</vt:lpstr>
      <vt:lpstr>Checklist- Updated on Public GitHub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Binny Lakra/PRISM /SRI-Bangalore/Professional/Samsung Electronics</dc:creator>
  <cp:lastModifiedBy>Deepak Reddy</cp:lastModifiedBy>
  <cp:revision>7</cp:revision>
  <dcterms:created xsi:type="dcterms:W3CDTF">2026-09-07T12:01:01Z</dcterms:created>
  <dcterms:modified xsi:type="dcterms:W3CDTF">2026-09-30T18:24:12Z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